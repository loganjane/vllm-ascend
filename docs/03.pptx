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23"/>
  </p:notesMasterIdLst>
  <p:handoutMasterIdLst>
    <p:handoutMasterId r:id="rId24"/>
  </p:handoutMasterIdLst>
  <p:sldIdLst>
    <p:sldId id="28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280" r:id="rId22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/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002F"/>
    <a:srgbClr val="FFFFFF"/>
    <a:srgbClr val="000000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98" d="100"/>
          <a:sy n="98" d="100"/>
        </p:scale>
        <p:origin x="110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068" y="2130426"/>
            <a:ext cx="7775436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136" y="3886200"/>
            <a:ext cx="64033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18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6112" y="786384"/>
            <a:ext cx="5897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A"/>
                </a:solidFill>
                <a:latin typeface="微软雅黑"/>
              </a:rPr>
              <a:t>提升多模态模型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298448"/>
            <a:ext cx="6492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C7000B"/>
                </a:solidFill>
                <a:latin typeface="微软雅黑"/>
              </a:rPr>
              <a:t>适配与优化效率</a:t>
            </a:r>
            <a:r>
              <a:rPr sz="1700" b="1">
                <a:solidFill>
                  <a:srgbClr val="1D1D1A"/>
                </a:solidFill>
                <a:latin typeface="微软雅黑"/>
              </a:rPr>
              <a:t>（问题解决型）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938528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A"/>
                </a:solidFill>
                <a:latin typeface="微软雅黑"/>
              </a:rPr>
              <a:t>圈名：</a:t>
            </a:r>
            <a:r>
              <a:rPr sz="2200" b="1">
                <a:solidFill>
                  <a:srgbClr val="C7000B"/>
                </a:solidFill>
                <a:latin typeface="微软雅黑"/>
              </a:rPr>
              <a:t>多模态效能圈</a:t>
            </a:r>
            <a:r>
              <a:rPr sz="1300" b="0">
                <a:solidFill>
                  <a:srgbClr val="595959"/>
                </a:solidFill>
                <a:latin typeface="微软雅黑"/>
              </a:rPr>
              <a:t>（建议）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816352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dirty="0" err="1">
                <a:solidFill>
                  <a:srgbClr val="1D1D1A"/>
                </a:solidFill>
                <a:latin typeface="微软雅黑"/>
              </a:rPr>
              <a:t>部门</a:t>
            </a:r>
            <a:r>
              <a:rPr sz="1330" b="0" dirty="0">
                <a:solidFill>
                  <a:srgbClr val="1D1D1A"/>
                </a:solidFill>
                <a:latin typeface="微软雅黑"/>
              </a:rPr>
              <a:t>：</a:t>
            </a:r>
            <a:r>
              <a:rPr lang="zh-CN" altLang="en-US" sz="1330" b="0" dirty="0">
                <a:solidFill>
                  <a:srgbClr val="1D1D1A"/>
                </a:solidFill>
                <a:latin typeface="微软雅黑"/>
              </a:rPr>
              <a:t>待补充</a:t>
            </a:r>
            <a:br>
              <a:rPr dirty="0"/>
            </a:br>
            <a:r>
              <a:rPr sz="1330" b="0" dirty="0" err="1">
                <a:solidFill>
                  <a:srgbClr val="1D1D1A"/>
                </a:solidFill>
                <a:latin typeface="微软雅黑"/>
              </a:rPr>
              <a:t>圈长：待补充</a:t>
            </a:r>
            <a:br>
              <a:rPr dirty="0"/>
            </a:br>
            <a:r>
              <a:rPr sz="1330" b="0" dirty="0" err="1">
                <a:solidFill>
                  <a:srgbClr val="1D1D1A"/>
                </a:solidFill>
                <a:latin typeface="微软雅黑"/>
              </a:rPr>
              <a:t>辅导员：待补充</a:t>
            </a:r>
            <a:br>
              <a:rPr dirty="0"/>
            </a:br>
            <a:r>
              <a:rPr sz="1330" b="0" dirty="0" err="1">
                <a:solidFill>
                  <a:srgbClr val="1D1D1A"/>
                </a:solidFill>
                <a:latin typeface="微软雅黑"/>
              </a:rPr>
              <a:t>圈员：待补充</a:t>
            </a:r>
            <a:endParaRPr sz="1330" b="0" dirty="0">
              <a:solidFill>
                <a:srgbClr val="1D1D1A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544068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5959"/>
                </a:solidFill>
                <a:latin typeface="微软雅黑"/>
              </a:rPr>
              <a:t>对策评审 · 2026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A"/>
                </a:solidFill>
                <a:latin typeface="微软雅黑"/>
              </a:rPr>
              <a:t>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沿用问题解决型 QCC 主线，从问题识别到对策落地形成闭环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1664208"/>
            <a:ext cx="438912" cy="438912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18488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8A8A"/>
                </a:solidFill>
                <a:latin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1581912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2763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/>
              </a:rPr>
              <a:t>明确课题边界、角色与活动节奏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72768" y="2148840"/>
            <a:ext cx="9656064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487168"/>
            <a:ext cx="438912" cy="438912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441448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8A8A"/>
                </a:solidFill>
                <a:latin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2404872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A"/>
                </a:solidFill>
                <a:latin typeface="微软雅黑"/>
              </a:rPr>
              <a:t>主题选择与现状把握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45059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/>
              </a:rPr>
              <a:t>从部门痛点出发，用矩阵与数据锁定关键问题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72768" y="2971800"/>
            <a:ext cx="9656064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14400" y="3310128"/>
            <a:ext cx="438912" cy="438912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264408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8A8A"/>
                </a:solidFill>
                <a:latin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3227832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A"/>
                </a:solidFill>
                <a:latin typeface="微软雅黑"/>
              </a:rPr>
              <a:t>目标设定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27355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/>
              </a:rPr>
              <a:t>用可衡量指标定义效率提升结果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72768" y="3794760"/>
            <a:ext cx="9656064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14400" y="4133087"/>
            <a:ext cx="438912" cy="438912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087368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8A8A"/>
                </a:solidFill>
                <a:latin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4050791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A"/>
                </a:solidFill>
                <a:latin typeface="微软雅黑"/>
              </a:rPr>
              <a:t>根因分析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09651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/>
              </a:rPr>
              <a:t>鱼骨图、FMEA 与要因确认逐层收敛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72768" y="4617720"/>
            <a:ext cx="9656064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14400" y="4956048"/>
            <a:ext cx="438912" cy="438912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4910328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4873752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7000B"/>
                </a:solidFill>
                <a:latin typeface="微软雅黑"/>
              </a:rPr>
              <a:t>对策拟定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91947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/>
              </a:rPr>
              <a:t>Agent 工程仓 + 三域协同 + 生态/测试赋能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评审范围：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本次评审截至“对策拟定”，实施效果与标准化在后续节点验证。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D1D1A"/>
                </a:solidFill>
                <a:latin typeface="微软雅黑"/>
              </a:rPr>
              <a:t>建立跨域小组，覆盖模型、框架、算子与交付全链路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组织设计与工作对象一致，避免在关键环节出现无人承接或串行等待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81912"/>
            <a:ext cx="3657600" cy="3877056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581912"/>
            <a:ext cx="3657600" cy="502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17190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D1D1A"/>
                </a:solidFill>
                <a:latin typeface="微软雅黑"/>
              </a:rPr>
              <a:t>圈组信息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2253996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176272"/>
            <a:ext cx="312724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95959"/>
                </a:solidFill>
                <a:latin typeface="微软雅黑"/>
              </a:rPr>
              <a:t>圈名：多模态效能圈（建议）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2692908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615184"/>
            <a:ext cx="312724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95959"/>
                </a:solidFill>
                <a:latin typeface="微软雅黑"/>
              </a:rPr>
              <a:t>主题：提升多模态模型适配与优化效率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3131820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054096"/>
            <a:ext cx="312724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95959"/>
                </a:solidFill>
                <a:latin typeface="微软雅黑"/>
              </a:rPr>
              <a:t>类型：问题解决型</a:t>
            </a:r>
          </a:p>
        </p:txBody>
      </p:sp>
      <p:sp>
        <p:nvSpPr>
          <p:cNvPr id="19" name="Oval 18"/>
          <p:cNvSpPr/>
          <p:nvPr/>
        </p:nvSpPr>
        <p:spPr>
          <a:xfrm>
            <a:off x="768096" y="3570732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493008"/>
            <a:ext cx="312724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95959"/>
                </a:solidFill>
                <a:latin typeface="微软雅黑"/>
              </a:rPr>
              <a:t>圈长 / 辅导员 / 圈员：待补充</a:t>
            </a:r>
          </a:p>
        </p:txBody>
      </p:sp>
      <p:sp>
        <p:nvSpPr>
          <p:cNvPr id="21" name="Oval 20"/>
          <p:cNvSpPr/>
          <p:nvPr/>
        </p:nvSpPr>
        <p:spPr>
          <a:xfrm>
            <a:off x="768096" y="4009644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931920"/>
            <a:ext cx="312724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95959"/>
                </a:solidFill>
                <a:latin typeface="微软雅黑"/>
              </a:rPr>
              <a:t>活动周期：2026.07—2026.11（建议）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15819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活动路径 · 与两份参考稿一致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2148840"/>
            <a:ext cx="130759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36008" y="2313432"/>
            <a:ext cx="310896" cy="310896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2761488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3291840"/>
            <a:ext cx="108813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微软雅黑"/>
              </a:rPr>
              <a:t>07月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81728" y="3639312"/>
            <a:ext cx="996696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3776472"/>
            <a:ext cx="1088136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95959"/>
                </a:solidFill>
                <a:latin typeface="微软雅黑"/>
              </a:rPr>
              <a:t>痛点池 / 选题矩阵</a:t>
            </a:r>
          </a:p>
        </p:txBody>
      </p:sp>
      <p:sp>
        <p:nvSpPr>
          <p:cNvPr id="30" name="Chevron 29"/>
          <p:cNvSpPr/>
          <p:nvPr/>
        </p:nvSpPr>
        <p:spPr>
          <a:xfrm>
            <a:off x="5879592" y="3136392"/>
            <a:ext cx="256032" cy="347472"/>
          </a:xfrm>
          <a:prstGeom prst="chevron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053328" y="2148840"/>
            <a:ext cx="130759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163056" y="2313432"/>
            <a:ext cx="310896" cy="310896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2761488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3291840"/>
            <a:ext cx="108813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微软雅黑"/>
              </a:rPr>
              <a:t>08月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08776" y="3639312"/>
            <a:ext cx="996696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63056" y="3776472"/>
            <a:ext cx="1088136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95959"/>
                </a:solidFill>
                <a:latin typeface="微软雅黑"/>
              </a:rPr>
              <a:t>统一口径 / 基线数据</a:t>
            </a:r>
          </a:p>
        </p:txBody>
      </p:sp>
      <p:sp>
        <p:nvSpPr>
          <p:cNvPr id="37" name="Chevron 36"/>
          <p:cNvSpPr/>
          <p:nvPr/>
        </p:nvSpPr>
        <p:spPr>
          <a:xfrm>
            <a:off x="7406640" y="3136392"/>
            <a:ext cx="256032" cy="347472"/>
          </a:xfrm>
          <a:prstGeom prst="chevron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580375" y="2148840"/>
            <a:ext cx="130759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690103" y="2313432"/>
            <a:ext cx="310896" cy="310896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0103" y="2761488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0103" y="3291840"/>
            <a:ext cx="108813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微软雅黑"/>
              </a:rPr>
              <a:t>08—09月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35823" y="3639312"/>
            <a:ext cx="996696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690103" y="3776472"/>
            <a:ext cx="1088136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95959"/>
                </a:solidFill>
                <a:latin typeface="微软雅黑"/>
              </a:rPr>
              <a:t>鱼骨 / FMEA / 验证</a:t>
            </a:r>
          </a:p>
        </p:txBody>
      </p:sp>
      <p:sp>
        <p:nvSpPr>
          <p:cNvPr id="44" name="Chevron 43"/>
          <p:cNvSpPr/>
          <p:nvPr/>
        </p:nvSpPr>
        <p:spPr>
          <a:xfrm>
            <a:off x="8933688" y="3136392"/>
            <a:ext cx="256032" cy="347472"/>
          </a:xfrm>
          <a:prstGeom prst="chevron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107424" y="2148840"/>
            <a:ext cx="130759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217151" y="2313432"/>
            <a:ext cx="310896" cy="310896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7151" y="2761488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7151" y="3291840"/>
            <a:ext cx="108813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微软雅黑"/>
              </a:rPr>
              <a:t>09月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62872" y="3639312"/>
            <a:ext cx="99669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217151" y="3776472"/>
            <a:ext cx="1088136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95959"/>
                </a:solidFill>
                <a:latin typeface="微软雅黑"/>
              </a:rPr>
              <a:t>方案架构 / 5W1H</a:t>
            </a:r>
          </a:p>
        </p:txBody>
      </p:sp>
      <p:sp>
        <p:nvSpPr>
          <p:cNvPr id="51" name="Chevron 50"/>
          <p:cNvSpPr/>
          <p:nvPr/>
        </p:nvSpPr>
        <p:spPr>
          <a:xfrm>
            <a:off x="10460736" y="3136392"/>
            <a:ext cx="256032" cy="347472"/>
          </a:xfrm>
          <a:prstGeom prst="chevron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634472" y="2148840"/>
            <a:ext cx="130759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744199" y="2313432"/>
            <a:ext cx="310896" cy="310896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199" y="2761488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D1D1A"/>
                </a:solidFill>
                <a:latin typeface="微软雅黑"/>
              </a:rPr>
              <a:t>实施验证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199" y="3291840"/>
            <a:ext cx="108813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微软雅黑"/>
              </a:rPr>
              <a:t>10—11月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9919" y="3639312"/>
            <a:ext cx="996696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744199" y="3776472"/>
            <a:ext cx="1088136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95959"/>
                </a:solidFill>
                <a:latin typeface="微软雅黑"/>
              </a:rPr>
              <a:t>试点 / 效果 / 标准化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会前补充：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封面与本页的人员、注册编号及确切活动周期均保留为可编辑字段。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D1D1A"/>
                </a:solidFill>
                <a:latin typeface="微软雅黑"/>
              </a:rPr>
              <a:t>能力短板不在单点技术，而在端到端协同与经验复用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沿用参考项目1的成员能力评估法，建议由小组会前完成 1—5 分自评并校准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5577840" cy="3913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1755648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能力雷达 · 建议初始值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60420" y="3455883"/>
            <a:ext cx="202408" cy="116860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62828" y="3572743"/>
            <a:ext cx="0" cy="23372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360420" y="3806464"/>
            <a:ext cx="202408" cy="116860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158011" y="3806464"/>
            <a:ext cx="202409" cy="116860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158011" y="3572743"/>
            <a:ext cx="0" cy="23372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158011" y="3455883"/>
            <a:ext cx="202409" cy="116860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360420" y="3222162"/>
            <a:ext cx="404816" cy="23372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65236" y="3455883"/>
            <a:ext cx="0" cy="46744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360420" y="3923324"/>
            <a:ext cx="404816" cy="23372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955603" y="3923324"/>
            <a:ext cx="404817" cy="23372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955603" y="3455883"/>
            <a:ext cx="0" cy="46744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55603" y="3222162"/>
            <a:ext cx="404817" cy="23372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60420" y="2988442"/>
            <a:ext cx="607224" cy="35058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67644" y="3339023"/>
            <a:ext cx="0" cy="70116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360420" y="4040184"/>
            <a:ext cx="607224" cy="35058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753195" y="4040184"/>
            <a:ext cx="607225" cy="35058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753195" y="3339023"/>
            <a:ext cx="0" cy="70116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753195" y="2988442"/>
            <a:ext cx="607225" cy="35058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60420" y="2754721"/>
            <a:ext cx="809632" cy="46744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170052" y="3222162"/>
            <a:ext cx="0" cy="934883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360420" y="4157045"/>
            <a:ext cx="809632" cy="46744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550787" y="4157045"/>
            <a:ext cx="809633" cy="46744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550787" y="3222162"/>
            <a:ext cx="0" cy="934883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550787" y="2754721"/>
            <a:ext cx="809633" cy="467441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360420" y="2521000"/>
            <a:ext cx="1012040" cy="584302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372460" y="3105302"/>
            <a:ext cx="0" cy="1168603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360420" y="4273905"/>
            <a:ext cx="1012040" cy="584302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2348379" y="4273905"/>
            <a:ext cx="1012041" cy="584302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348379" y="3105302"/>
            <a:ext cx="0" cy="1168603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348379" y="2521000"/>
            <a:ext cx="1012041" cy="584302"/>
          </a:xfrm>
          <a:prstGeom prst="line">
            <a:avLst/>
          </a:prstGeom>
          <a:ln w="889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60420" y="2521000"/>
            <a:ext cx="0" cy="1168604"/>
          </a:xfrm>
          <a:prstGeom prst="line">
            <a:avLst/>
          </a:prstGeom>
          <a:ln w="889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921508" y="2164384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595959"/>
                </a:solidFill>
                <a:latin typeface="微软雅黑"/>
              </a:rPr>
              <a:t>模型理解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3360420" y="3105302"/>
            <a:ext cx="1012040" cy="584302"/>
          </a:xfrm>
          <a:prstGeom prst="line">
            <a:avLst/>
          </a:prstGeom>
          <a:ln w="889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02791" y="2867558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595959"/>
                </a:solidFill>
                <a:latin typeface="微软雅黑"/>
              </a:rPr>
              <a:t>问题定界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60420" y="3689604"/>
            <a:ext cx="1012040" cy="584301"/>
          </a:xfrm>
          <a:prstGeom prst="line">
            <a:avLst/>
          </a:prstGeom>
          <a:ln w="889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202791" y="4273905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595959"/>
                </a:solidFill>
                <a:latin typeface="微软雅黑"/>
              </a:rPr>
              <a:t>Profiling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360420" y="3689604"/>
            <a:ext cx="0" cy="1168603"/>
          </a:xfrm>
          <a:prstGeom prst="line">
            <a:avLst/>
          </a:prstGeom>
          <a:ln w="889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921508" y="4977079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595959"/>
                </a:solidFill>
                <a:latin typeface="微软雅黑"/>
              </a:rPr>
              <a:t>算子/框架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2348379" y="3689604"/>
            <a:ext cx="1012041" cy="584301"/>
          </a:xfrm>
          <a:prstGeom prst="line">
            <a:avLst/>
          </a:prstGeom>
          <a:ln w="889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640224" y="4273905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595959"/>
                </a:solidFill>
                <a:latin typeface="微软雅黑"/>
              </a:rPr>
              <a:t>配置寻优</a:t>
            </a:r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2348379" y="3105302"/>
            <a:ext cx="1012041" cy="584302"/>
          </a:xfrm>
          <a:prstGeom prst="line">
            <a:avLst/>
          </a:prstGeom>
          <a:ln w="889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640224" y="2867558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595959"/>
                </a:solidFill>
                <a:latin typeface="微软雅黑"/>
              </a:rPr>
              <a:t>资产复用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360420" y="2707977"/>
            <a:ext cx="809632" cy="514185"/>
          </a:xfrm>
          <a:prstGeom prst="line">
            <a:avLst/>
          </a:prstGeom>
          <a:ln w="2032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319272" y="2666829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4170052" y="3222162"/>
            <a:ext cx="40481" cy="958255"/>
          </a:xfrm>
          <a:prstGeom prst="line">
            <a:avLst/>
          </a:prstGeom>
          <a:ln w="2032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4128904" y="3181014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" name="Connector 57"/>
          <p:cNvCxnSpPr/>
          <p:nvPr/>
        </p:nvCxnSpPr>
        <p:spPr>
          <a:xfrm flipH="1">
            <a:off x="3360420" y="4180417"/>
            <a:ext cx="850113" cy="490813"/>
          </a:xfrm>
          <a:prstGeom prst="line">
            <a:avLst/>
          </a:prstGeom>
          <a:ln w="2032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169385" y="4139269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Connector 59"/>
          <p:cNvCxnSpPr/>
          <p:nvPr/>
        </p:nvCxnSpPr>
        <p:spPr>
          <a:xfrm flipH="1" flipV="1">
            <a:off x="2550787" y="4157045"/>
            <a:ext cx="809633" cy="514185"/>
          </a:xfrm>
          <a:prstGeom prst="line">
            <a:avLst/>
          </a:prstGeom>
          <a:ln w="2032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319272" y="463008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2510306" y="3198790"/>
            <a:ext cx="40481" cy="958255"/>
          </a:xfrm>
          <a:prstGeom prst="line">
            <a:avLst/>
          </a:prstGeom>
          <a:ln w="2032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509639" y="4115897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 flipV="1">
            <a:off x="2510306" y="2707977"/>
            <a:ext cx="850114" cy="490813"/>
          </a:xfrm>
          <a:prstGeom prst="line">
            <a:avLst/>
          </a:prstGeom>
          <a:ln w="2032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2469158" y="315764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/>
          <p:nvPr/>
        </p:nvCxnSpPr>
        <p:spPr>
          <a:xfrm>
            <a:off x="3360420" y="2871581"/>
            <a:ext cx="607224" cy="467442"/>
          </a:xfrm>
          <a:prstGeom prst="line">
            <a:avLst/>
          </a:prstGeom>
          <a:ln w="279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319272" y="2830433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Connector 67"/>
          <p:cNvCxnSpPr/>
          <p:nvPr/>
        </p:nvCxnSpPr>
        <p:spPr>
          <a:xfrm>
            <a:off x="3967644" y="3339023"/>
            <a:ext cx="40481" cy="724534"/>
          </a:xfrm>
          <a:prstGeom prst="line">
            <a:avLst/>
          </a:prstGeom>
          <a:ln w="279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926496" y="3297875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" name="Connector 69"/>
          <p:cNvCxnSpPr/>
          <p:nvPr/>
        </p:nvCxnSpPr>
        <p:spPr>
          <a:xfrm flipH="1">
            <a:off x="3360420" y="4063557"/>
            <a:ext cx="647705" cy="420697"/>
          </a:xfrm>
          <a:prstGeom prst="line">
            <a:avLst/>
          </a:prstGeom>
          <a:ln w="279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966977" y="4022409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" name="Connector 71"/>
          <p:cNvCxnSpPr/>
          <p:nvPr/>
        </p:nvCxnSpPr>
        <p:spPr>
          <a:xfrm flipH="1" flipV="1">
            <a:off x="2894881" y="3958382"/>
            <a:ext cx="465539" cy="525872"/>
          </a:xfrm>
          <a:prstGeom prst="line">
            <a:avLst/>
          </a:prstGeom>
          <a:ln w="279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3319272" y="4443106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/>
          <p:nvPr/>
        </p:nvCxnSpPr>
        <p:spPr>
          <a:xfrm flipV="1">
            <a:off x="2894881" y="3455883"/>
            <a:ext cx="60722" cy="502499"/>
          </a:xfrm>
          <a:prstGeom prst="line">
            <a:avLst/>
          </a:prstGeom>
          <a:ln w="279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2853733" y="3917234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" name="Connector 75"/>
          <p:cNvCxnSpPr/>
          <p:nvPr/>
        </p:nvCxnSpPr>
        <p:spPr>
          <a:xfrm flipV="1">
            <a:off x="2955603" y="2871581"/>
            <a:ext cx="404817" cy="584302"/>
          </a:xfrm>
          <a:prstGeom prst="line">
            <a:avLst/>
          </a:prstGeom>
          <a:ln w="279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2914455" y="3414735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143000" y="4983480"/>
            <a:ext cx="164592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353312" y="488289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现状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20240" y="4983480"/>
            <a:ext cx="164592" cy="45720"/>
          </a:xfrm>
          <a:prstGeom prst="rect">
            <a:avLst/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130552" y="488289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目标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0" y="1572768"/>
            <a:ext cx="5230368" cy="1170432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0160">
            <a:solidFill>
              <a:srgbClr val="CDE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400800" y="1572768"/>
            <a:ext cx="5230368" cy="5029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601968" y="1709928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D1D1A"/>
                </a:solidFill>
                <a:latin typeface="微软雅黑"/>
              </a:rPr>
              <a:t>观察 1 · 专业能力较强</a:t>
            </a:r>
          </a:p>
        </p:txBody>
      </p:sp>
      <p:sp>
        <p:nvSpPr>
          <p:cNvPr id="85" name="Oval 84"/>
          <p:cNvSpPr/>
          <p:nvPr/>
        </p:nvSpPr>
        <p:spPr>
          <a:xfrm>
            <a:off x="6601968" y="2244852"/>
            <a:ext cx="68580" cy="685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748272" y="2167128"/>
            <a:ext cx="470001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95959"/>
                </a:solidFill>
                <a:latin typeface="微软雅黑"/>
              </a:rPr>
              <a:t>模型理解、框架与算子能力具备攻关基础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0800" y="2871216"/>
            <a:ext cx="5230368" cy="117043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0160">
            <a:solidFill>
              <a:srgbClr val="F5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400800" y="2871216"/>
            <a:ext cx="5230368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601968" y="3008376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D1D1A"/>
                </a:solidFill>
                <a:latin typeface="微软雅黑"/>
              </a:rPr>
              <a:t>观察 2 · 工具化与寻优不足</a:t>
            </a:r>
          </a:p>
        </p:txBody>
      </p:sp>
      <p:sp>
        <p:nvSpPr>
          <p:cNvPr id="90" name="Oval 89"/>
          <p:cNvSpPr/>
          <p:nvPr/>
        </p:nvSpPr>
        <p:spPr>
          <a:xfrm>
            <a:off x="6601968" y="3543300"/>
            <a:ext cx="68580" cy="685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748272" y="3465576"/>
            <a:ext cx="470001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95959"/>
                </a:solidFill>
                <a:latin typeface="微软雅黑"/>
              </a:rPr>
              <a:t>配置空间仍靠人工试探，重复分析难形成自动循环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00800" y="4169663"/>
            <a:ext cx="5230368" cy="1316736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160">
            <a:solidFill>
              <a:srgbClr val="F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400800" y="4169663"/>
            <a:ext cx="5230368" cy="502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601968" y="4306824"/>
            <a:ext cx="486460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D1D1A"/>
                </a:solidFill>
                <a:latin typeface="微软雅黑"/>
              </a:rPr>
              <a:t>观察 3 · 经验难跨角色复用</a:t>
            </a:r>
          </a:p>
        </p:txBody>
      </p:sp>
      <p:sp>
        <p:nvSpPr>
          <p:cNvPr id="95" name="Oval 94"/>
          <p:cNvSpPr/>
          <p:nvPr/>
        </p:nvSpPr>
        <p:spPr>
          <a:xfrm>
            <a:off x="6601968" y="4841748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748272" y="4764024"/>
            <a:ext cx="470001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595959"/>
                </a:solidFill>
                <a:latin typeface="微软雅黑"/>
              </a:rPr>
              <a:t>高价值技能沉淀为文档多、可执行 Skill 与验收资产少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改进着力点：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补齐“工具化、协同化、资产化”三项组织能力，而非重复建设单点工具。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1D1D1A"/>
                </a:solidFill>
                <a:latin typeface="微软雅黑"/>
              </a:rPr>
              <a:t>新模型多、迭代快、结构改动大，适配优化已成为长链路工程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工作同时跨越模型开箱、问题定界、性能分析、框架/算子优化与参数寻优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5448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160">
            <a:solidFill>
              <a:srgbClr val="F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554480"/>
            <a:ext cx="3611880" cy="502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1719072"/>
            <a:ext cx="292608" cy="2926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169163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D1D1A"/>
                </a:solidFill>
                <a:latin typeface="微软雅黑"/>
              </a:rPr>
              <a:t>新模型数量多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" y="2226564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148840"/>
            <a:ext cx="308152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95959"/>
                </a:solidFill>
                <a:latin typeface="微软雅黑"/>
              </a:rPr>
              <a:t>Kimi-K3、Qwen3.8 等持续进入，适配任务并行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155448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160">
            <a:solidFill>
              <a:srgbClr val="F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06824" y="1554480"/>
            <a:ext cx="3611880" cy="502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71416" y="1719072"/>
            <a:ext cx="292608" cy="2926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169163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D1D1A"/>
                </a:solidFill>
                <a:latin typeface="微软雅黑"/>
              </a:rPr>
              <a:t>版本迭代快</a:t>
            </a:r>
          </a:p>
        </p:txBody>
      </p:sp>
      <p:sp>
        <p:nvSpPr>
          <p:cNvPr id="20" name="Oval 19"/>
          <p:cNvSpPr/>
          <p:nvPr/>
        </p:nvSpPr>
        <p:spPr>
          <a:xfrm>
            <a:off x="4507992" y="2226564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54296" y="2148840"/>
            <a:ext cx="308152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95959"/>
                </a:solidFill>
                <a:latin typeface="微软雅黑"/>
              </a:rPr>
              <a:t>模型与 vLLM / vLLM-Ascend 高频演进，结论易失效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55448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160">
            <a:solidFill>
              <a:srgbClr val="F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1554480"/>
            <a:ext cx="3611880" cy="502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11312" y="1719072"/>
            <a:ext cx="292608" cy="2926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169163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D1D1A"/>
                </a:solidFill>
                <a:latin typeface="微软雅黑"/>
              </a:rPr>
              <a:t>结构改动大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2226564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2148840"/>
            <a:ext cx="308152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95959"/>
                </a:solidFill>
                <a:latin typeface="微软雅黑"/>
              </a:rPr>
              <a:t>视觉编码、跨模态融合、MoE / KV 等存在大颗粒变化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852928"/>
            <a:ext cx="3200400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从模型发布到高性能交付的完整链路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401568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6656" y="3538728"/>
            <a:ext cx="292608" cy="292608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3950208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D1D1A"/>
                </a:solidFill>
                <a:latin typeface="微软雅黑"/>
              </a:rPr>
              <a:t>模型发布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446227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5959"/>
                </a:solidFill>
                <a:latin typeface="微软雅黑"/>
              </a:rPr>
              <a:t>权重 / 配置 / 代码</a:t>
            </a:r>
          </a:p>
        </p:txBody>
      </p:sp>
      <p:sp>
        <p:nvSpPr>
          <p:cNvPr id="33" name="Chevron 32"/>
          <p:cNvSpPr/>
          <p:nvPr/>
        </p:nvSpPr>
        <p:spPr>
          <a:xfrm>
            <a:off x="2212848" y="3986784"/>
            <a:ext cx="256032" cy="402336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423160" y="3401568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143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532888" y="3538728"/>
            <a:ext cx="292608" cy="2926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51176" y="3950208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D1D1A"/>
                </a:solidFill>
                <a:latin typeface="微软雅黑"/>
              </a:rPr>
              <a:t>结构差异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51176" y="446227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5959"/>
                </a:solidFill>
                <a:latin typeface="微软雅黑"/>
              </a:rPr>
              <a:t>识别适配点</a:t>
            </a:r>
          </a:p>
        </p:txBody>
      </p:sp>
      <p:sp>
        <p:nvSpPr>
          <p:cNvPr id="38" name="Chevron 37"/>
          <p:cNvSpPr/>
          <p:nvPr/>
        </p:nvSpPr>
        <p:spPr>
          <a:xfrm>
            <a:off x="4069080" y="3986784"/>
            <a:ext cx="256032" cy="402336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79392" y="3401568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143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389120" y="3538728"/>
            <a:ext cx="292608" cy="2926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7" y="3950208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D1D1A"/>
                </a:solidFill>
                <a:latin typeface="微软雅黑"/>
              </a:rPr>
              <a:t>功能精度稳定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7" y="446227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5959"/>
                </a:solidFill>
                <a:latin typeface="微软雅黑"/>
              </a:rPr>
              <a:t>复现与定界</a:t>
            </a:r>
          </a:p>
        </p:txBody>
      </p:sp>
      <p:sp>
        <p:nvSpPr>
          <p:cNvPr id="43" name="Chevron 42"/>
          <p:cNvSpPr/>
          <p:nvPr/>
        </p:nvSpPr>
        <p:spPr>
          <a:xfrm>
            <a:off x="5925312" y="3986784"/>
            <a:ext cx="256032" cy="402336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135623" y="3401568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143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245351" y="3538728"/>
            <a:ext cx="292608" cy="2926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39" y="3950208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D1D1A"/>
                </a:solidFill>
                <a:latin typeface="微软雅黑"/>
              </a:rPr>
              <a:t>Profiling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39" y="446227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5959"/>
                </a:solidFill>
                <a:latin typeface="微软雅黑"/>
              </a:rPr>
              <a:t>热点 / 通信 / 内存</a:t>
            </a:r>
          </a:p>
        </p:txBody>
      </p:sp>
      <p:sp>
        <p:nvSpPr>
          <p:cNvPr id="48" name="Chevron 47"/>
          <p:cNvSpPr/>
          <p:nvPr/>
        </p:nvSpPr>
        <p:spPr>
          <a:xfrm>
            <a:off x="7781544" y="3986784"/>
            <a:ext cx="256032" cy="402336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991855" y="3401568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101583" y="3538728"/>
            <a:ext cx="292608" cy="292608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9871" y="3950208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D1D1A"/>
                </a:solidFill>
                <a:latin typeface="微软雅黑"/>
              </a:rPr>
              <a:t>框架·算子优化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19871" y="446227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5959"/>
                </a:solidFill>
                <a:latin typeface="微软雅黑"/>
              </a:rPr>
              <a:t>特性 / 融合</a:t>
            </a:r>
          </a:p>
        </p:txBody>
      </p:sp>
      <p:sp>
        <p:nvSpPr>
          <p:cNvPr id="53" name="Chevron 52"/>
          <p:cNvSpPr/>
          <p:nvPr/>
        </p:nvSpPr>
        <p:spPr>
          <a:xfrm>
            <a:off x="9637776" y="3986784"/>
            <a:ext cx="256032" cy="402336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848087" y="3401568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143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957815" y="3538728"/>
            <a:ext cx="292608" cy="2926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76103" y="3950208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D1D1A"/>
                </a:solidFill>
                <a:latin typeface="微软雅黑"/>
              </a:rPr>
              <a:t>配置寻优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3" y="446227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5959"/>
                </a:solidFill>
                <a:latin typeface="微软雅黑"/>
              </a:rPr>
              <a:t>最优性能交付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核心矛盾：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任务链路越来越长，但工具、协同与经验沉淀仍以个人和单领域为中心。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1D1D1A"/>
                </a:solidFill>
                <a:latin typeface="微软雅黑"/>
              </a:rPr>
              <a:t>围绕日常工作发散痛点，亲和图收敛为三类系统性问题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VOE 来自新模型适配、疑难问题攻关、性能调测和生态/测试支持的共同经历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00200"/>
            <a:ext cx="3593592" cy="3767328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600200"/>
            <a:ext cx="3593592" cy="457200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68249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A · 工具链断点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30428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267712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模型结构差异靠人工阅读与比对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266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990088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功能/精度/稳定性定位依赖专家经验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490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712464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Profiling 结果分散，优化点需手工归纳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7141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434840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配置组合爆炸，人工试跑成本高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600200"/>
            <a:ext cx="3593592" cy="3767328"/>
          </a:xfrm>
          <a:prstGeom prst="roundRect">
            <a:avLst>
              <a:gd name="adj" fmla="val 8000"/>
            </a:avLst>
          </a:prstGeom>
          <a:solidFill>
            <a:srgbClr val="EDF5FD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97680" y="1600200"/>
            <a:ext cx="3593592" cy="457200"/>
          </a:xfrm>
          <a:prstGeom prst="roundRect">
            <a:avLst>
              <a:gd name="adj" fmla="val 8000"/>
            </a:avLst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2" y="168249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B · 三域协同断点</a:t>
            </a:r>
          </a:p>
        </p:txBody>
      </p:sp>
      <p:sp>
        <p:nvSpPr>
          <p:cNvPr id="24" name="Oval 23"/>
          <p:cNvSpPr/>
          <p:nvPr/>
        </p:nvSpPr>
        <p:spPr>
          <a:xfrm>
            <a:off x="4462272" y="230428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6FBF"/>
                </a:solidFill>
                <a:latin typeface="微软雅黑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2267712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框架特性、算子、模型性能串行交接</a:t>
            </a:r>
          </a:p>
        </p:txBody>
      </p:sp>
      <p:sp>
        <p:nvSpPr>
          <p:cNvPr id="26" name="Oval 25"/>
          <p:cNvSpPr/>
          <p:nvPr/>
        </p:nvSpPr>
        <p:spPr>
          <a:xfrm>
            <a:off x="4462272" y="30266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6FBF"/>
                </a:solidFill>
                <a:latin typeface="微软雅黑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744" y="2990088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问题边界与责任角色需反复澄清</a:t>
            </a:r>
          </a:p>
        </p:txBody>
      </p:sp>
      <p:sp>
        <p:nvSpPr>
          <p:cNvPr id="28" name="Oval 27"/>
          <p:cNvSpPr/>
          <p:nvPr/>
        </p:nvSpPr>
        <p:spPr>
          <a:xfrm>
            <a:off x="4462272" y="37490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6FBF"/>
                </a:solidFill>
                <a:latin typeface="微软雅黑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3712464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优化假设、实验配置和收益口径不统一</a:t>
            </a:r>
          </a:p>
        </p:txBody>
      </p:sp>
      <p:sp>
        <p:nvSpPr>
          <p:cNvPr id="30" name="Oval 29"/>
          <p:cNvSpPr/>
          <p:nvPr/>
        </p:nvSpPr>
        <p:spPr>
          <a:xfrm>
            <a:off x="4462272" y="447141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6FBF"/>
                </a:solidFill>
                <a:latin typeface="微软雅黑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4434840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跨域结论未进入统一评审与基线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1600200"/>
            <a:ext cx="3593592" cy="3767328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028432" y="1600200"/>
            <a:ext cx="3593592" cy="457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168249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C · 知识复用断点</a:t>
            </a:r>
          </a:p>
        </p:txBody>
      </p:sp>
      <p:sp>
        <p:nvSpPr>
          <p:cNvPr id="35" name="Oval 34"/>
          <p:cNvSpPr/>
          <p:nvPr/>
        </p:nvSpPr>
        <p:spPr>
          <a:xfrm>
            <a:off x="8193024" y="230428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8B57"/>
                </a:solidFill>
                <a:latin typeface="微软雅黑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2267712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技能散落在个人脚本、文档与聊天记录</a:t>
            </a:r>
          </a:p>
        </p:txBody>
      </p:sp>
      <p:sp>
        <p:nvSpPr>
          <p:cNvPr id="37" name="Oval 36"/>
          <p:cNvSpPr/>
          <p:nvPr/>
        </p:nvSpPr>
        <p:spPr>
          <a:xfrm>
            <a:off x="8193024" y="30266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8B57"/>
                </a:solidFill>
                <a:latin typeface="微软雅黑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2990088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同类问题换模型后重复定位</a:t>
            </a:r>
          </a:p>
        </p:txBody>
      </p:sp>
      <p:sp>
        <p:nvSpPr>
          <p:cNvPr id="39" name="Oval 38"/>
          <p:cNvSpPr/>
          <p:nvPr/>
        </p:nvSpPr>
        <p:spPr>
          <a:xfrm>
            <a:off x="8193024" y="37490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8B57"/>
                </a:solidFill>
                <a:latin typeface="微软雅黑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3712464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生态同事难直接复用研发排查能力</a:t>
            </a:r>
          </a:p>
        </p:txBody>
      </p:sp>
      <p:sp>
        <p:nvSpPr>
          <p:cNvPr id="41" name="Oval 40"/>
          <p:cNvSpPr/>
          <p:nvPr/>
        </p:nvSpPr>
        <p:spPr>
          <a:xfrm>
            <a:off x="8193024" y="447141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8B57"/>
                </a:solidFill>
                <a:latin typeface="微软雅黑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96" y="4434840"/>
            <a:ext cx="285292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D1D1A"/>
                </a:solidFill>
                <a:latin typeface="微软雅黑"/>
              </a:rPr>
              <a:t>测试验收缺少可执行基线与用例包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亲和结论：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三类断点共同指向一个改进主题——建立可执行、可度量、可沉淀的端到端适配优化系统。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1D1D1A"/>
                </a:solidFill>
                <a:latin typeface="微软雅黑"/>
              </a:rPr>
              <a:t>4 个候选经加权矩阵量化，“适配与优化效率”得分最高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采用参考项目1的矩阵数据分析法：重要性、紧迫性、收益、可行性、周期适中性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627632"/>
          <a:ext cx="11055096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544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候选主题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重要</a:t>
                      </a:r>
                      <a:br/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×10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紧迫</a:t>
                      </a:r>
                      <a:br/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×8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收益</a:t>
                      </a:r>
                      <a:br/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×10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可行</a:t>
                      </a:r>
                      <a:br/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×8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适中</a:t>
                      </a:r>
                      <a:br/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×6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总分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C7000B"/>
                          </a:solidFill>
                          <a:latin typeface="微软雅黑"/>
                        </a:rPr>
                        <a:t>提升多模态模型适配与优化效率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C7000B"/>
                          </a:solidFill>
                          <a:latin typeface="微软雅黑"/>
                        </a:rPr>
                        <a:t>336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提升外部客户问题响应效率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288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提升融合算子开发与交付效率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252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4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提升多模态测试覆盖与验收效率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D1D1A"/>
                          </a:solidFill>
                          <a:latin typeface="微软雅黑"/>
                        </a:rPr>
                        <a:t>234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956048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5065776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7000B"/>
                </a:solidFill>
                <a:latin typeface="微软雅黑"/>
              </a:rPr>
              <a:t>评分口径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5029200"/>
            <a:ext cx="9646920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595959"/>
                </a:solidFill>
                <a:latin typeface="微软雅黑"/>
              </a:rPr>
              <a:t>9=影响高/非常紧迫/收益大/成功率高/3个月可形成阶段成果；6=中等；3=较低；1=低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选题结论：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主题覆盖三类系统性断点，且能同时拉动内部交付、外部客户支持与测试验收效率。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1D1D1A"/>
                </a:solidFill>
                <a:latin typeface="微软雅黑"/>
              </a:rPr>
              <a:t>用 SIPOC 圈定改进边界，度量对象是端到端交付周期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Supplier → Input → Process → Output → Customer，避免课题扩散为“所有性能问题都解决”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55648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016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755648"/>
            <a:ext cx="2057400" cy="493776"/>
          </a:xfrm>
          <a:prstGeom prst="roundRect">
            <a:avLst>
              <a:gd name="adj" fmla="val 8000"/>
            </a:avLst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 · 供应源</a:t>
            </a:r>
          </a:p>
        </p:txBody>
      </p:sp>
      <p:sp>
        <p:nvSpPr>
          <p:cNvPr id="13" name="Oval 12"/>
          <p:cNvSpPr/>
          <p:nvPr/>
        </p:nvSpPr>
        <p:spPr>
          <a:xfrm>
            <a:off x="1431036" y="24871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BF"/>
                </a:solidFill>
                <a:latin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模型原生仓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02152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vLLM 社区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4106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客户/生态需求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79976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测试验收入口</a:t>
            </a:r>
          </a:p>
        </p:txBody>
      </p:sp>
      <p:sp>
        <p:nvSpPr>
          <p:cNvPr id="18" name="Chevron 17"/>
          <p:cNvSpPr/>
          <p:nvPr/>
        </p:nvSpPr>
        <p:spPr>
          <a:xfrm>
            <a:off x="2692908" y="3246120"/>
            <a:ext cx="237744" cy="402336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16352" y="1755648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016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816352" y="1755648"/>
            <a:ext cx="2057400" cy="493776"/>
          </a:xfrm>
          <a:prstGeom prst="roundRect">
            <a:avLst>
              <a:gd name="adj" fmla="val 8000"/>
            </a:avLst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89504" y="1865376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I · 输入</a:t>
            </a:r>
          </a:p>
        </p:txBody>
      </p:sp>
      <p:sp>
        <p:nvSpPr>
          <p:cNvPr id="22" name="Oval 21"/>
          <p:cNvSpPr/>
          <p:nvPr/>
        </p:nvSpPr>
        <p:spPr>
          <a:xfrm>
            <a:off x="3680460" y="24871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BF"/>
                </a:solidFill>
                <a:latin typeface="微软雅黑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3063240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模型权重与配置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0944" y="3502152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功能/精度问题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0944" y="394106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Profiling 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0944" y="4379976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性能目标与约束</a:t>
            </a:r>
          </a:p>
        </p:txBody>
      </p:sp>
      <p:sp>
        <p:nvSpPr>
          <p:cNvPr id="27" name="Chevron 26"/>
          <p:cNvSpPr/>
          <p:nvPr/>
        </p:nvSpPr>
        <p:spPr>
          <a:xfrm>
            <a:off x="4942332" y="3246120"/>
            <a:ext cx="237744" cy="402336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65776" y="1755648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778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65776" y="1755648"/>
            <a:ext cx="2057400" cy="49377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38928" y="1865376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P · 过程 ★</a:t>
            </a:r>
          </a:p>
        </p:txBody>
      </p:sp>
      <p:sp>
        <p:nvSpPr>
          <p:cNvPr id="31" name="Oval 30"/>
          <p:cNvSpPr/>
          <p:nvPr/>
        </p:nvSpPr>
        <p:spPr>
          <a:xfrm>
            <a:off x="5929884" y="24871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063240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1D1D1A"/>
                </a:solidFill>
                <a:latin typeface="微软雅黑"/>
              </a:rPr>
              <a:t>结构差异分析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3502152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D1D1A"/>
                </a:solidFill>
                <a:latin typeface="微软雅黑"/>
              </a:rPr>
              <a:t>适配与问题定界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394106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D1D1A"/>
                </a:solidFill>
                <a:latin typeface="微软雅黑"/>
              </a:rPr>
              <a:t>性能分析/优化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4379976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D1D1A"/>
                </a:solidFill>
                <a:latin typeface="微软雅黑"/>
              </a:rPr>
              <a:t>配置寻优/回归</a:t>
            </a:r>
          </a:p>
        </p:txBody>
      </p:sp>
      <p:sp>
        <p:nvSpPr>
          <p:cNvPr id="36" name="Chevron 35"/>
          <p:cNvSpPr/>
          <p:nvPr/>
        </p:nvSpPr>
        <p:spPr>
          <a:xfrm>
            <a:off x="7191756" y="3246120"/>
            <a:ext cx="237744" cy="402336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5200" y="1755648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016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315200" y="1755648"/>
            <a:ext cx="2057400" cy="493776"/>
          </a:xfrm>
          <a:prstGeom prst="roundRect">
            <a:avLst>
              <a:gd name="adj" fmla="val 8000"/>
            </a:avLst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88352" y="1865376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O · 输出</a:t>
            </a:r>
          </a:p>
        </p:txBody>
      </p:sp>
      <p:sp>
        <p:nvSpPr>
          <p:cNvPr id="40" name="Oval 39"/>
          <p:cNvSpPr/>
          <p:nvPr/>
        </p:nvSpPr>
        <p:spPr>
          <a:xfrm>
            <a:off x="8179308" y="24871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BF"/>
                </a:solidFill>
                <a:latin typeface="微软雅黑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3063240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可运行模型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3502152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性能最优配置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9792" y="394106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问题闭环证据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9792" y="4379976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Skill/Case/基线</a:t>
            </a:r>
          </a:p>
        </p:txBody>
      </p:sp>
      <p:sp>
        <p:nvSpPr>
          <p:cNvPr id="45" name="Chevron 44"/>
          <p:cNvSpPr/>
          <p:nvPr/>
        </p:nvSpPr>
        <p:spPr>
          <a:xfrm>
            <a:off x="9441180" y="3246120"/>
            <a:ext cx="237744" cy="402336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564624" y="1755648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016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564624" y="1755648"/>
            <a:ext cx="2057400" cy="493776"/>
          </a:xfrm>
          <a:prstGeom prst="roundRect">
            <a:avLst>
              <a:gd name="adj" fmla="val 8000"/>
            </a:avLst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37776" y="1865376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C · 客户</a:t>
            </a:r>
          </a:p>
        </p:txBody>
      </p:sp>
      <p:sp>
        <p:nvSpPr>
          <p:cNvPr id="49" name="Oval 48"/>
          <p:cNvSpPr/>
          <p:nvPr/>
        </p:nvSpPr>
        <p:spPr>
          <a:xfrm>
            <a:off x="10428732" y="24871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BF"/>
                </a:solidFill>
                <a:latin typeface="微软雅黑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9216" y="3063240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模型优化组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9216" y="3502152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生态支持团队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29216" y="394106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测试验收团队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9216" y="4379976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595959"/>
                </a:solidFill>
                <a:latin typeface="微软雅黑"/>
              </a:rPr>
              <a:t>外部客户局点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改进焦点（P）：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从“输入可识别”到“输出可验收”的适配优化过程；模型本身能力与硬件规格作为边界条件。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1D1D1A"/>
                </a:solidFill>
                <a:latin typeface="微软雅黑"/>
              </a:rPr>
              <a:t>先拆总周期再锁定关键少数：前三项建议基线占 71%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工时口径：T总 = T结构差异 + T问题定界 + T性能分析/优化 + T配置寻优 + T协同返工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27048"/>
            <a:ext cx="4297680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评审建议基线 · 待近3个月≥3个模型实测校准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769924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1097280" y="4663440"/>
            <a:ext cx="6720840" cy="0"/>
          </a:xfrm>
          <a:prstGeom prst="line">
            <a:avLst/>
          </a:prstGeom>
          <a:ln w="889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544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8A8A8A"/>
                </a:solidFill>
                <a:latin typeface="微软雅黑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3861815"/>
            <a:ext cx="6720840" cy="0"/>
          </a:xfrm>
          <a:prstGeom prst="line">
            <a:avLst/>
          </a:prstGeom>
          <a:ln w="889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742943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8A8A8A"/>
                </a:solidFill>
                <a:latin typeface="微软雅黑"/>
              </a:rPr>
              <a:t>20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3060192"/>
            <a:ext cx="6720840" cy="0"/>
          </a:xfrm>
          <a:prstGeom prst="line">
            <a:avLst/>
          </a:prstGeom>
          <a:ln w="889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9413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8A8A8A"/>
                </a:solidFill>
                <a:latin typeface="微软雅黑"/>
              </a:rPr>
              <a:t>40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0" y="2258568"/>
            <a:ext cx="6720840" cy="0"/>
          </a:xfrm>
          <a:prstGeom prst="line">
            <a:avLst/>
          </a:prstGeom>
          <a:ln w="889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2139696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8A8A8A"/>
                </a:solidFill>
                <a:latin typeface="微软雅黑"/>
              </a:rPr>
              <a:t>60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2739542"/>
            <a:ext cx="6720840" cy="0"/>
          </a:xfrm>
          <a:prstGeom prst="line">
            <a:avLst/>
          </a:prstGeom>
          <a:ln w="1397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0" y="246522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F6FBF"/>
                </a:solidFill>
                <a:latin typeface="微软雅黑"/>
              </a:rPr>
              <a:t>80%线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9555" y="2739542"/>
            <a:ext cx="779617" cy="1923897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9555" y="2446934"/>
            <a:ext cx="779617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微软雅黑"/>
              </a:rPr>
              <a:t>48h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4963" y="4773168"/>
            <a:ext cx="1108801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D1D1A"/>
                </a:solidFill>
                <a:latin typeface="微软雅黑"/>
              </a:rPr>
              <a:t>性能分析</a:t>
            </a:r>
            <a:br/>
            <a:r>
              <a:rPr sz="919" b="1">
                <a:solidFill>
                  <a:srgbClr val="1D1D1A"/>
                </a:solidFill>
                <a:latin typeface="微软雅黑"/>
              </a:rPr>
              <a:t>与优化</a:t>
            </a:r>
          </a:p>
        </p:txBody>
      </p:sp>
      <p:sp>
        <p:nvSpPr>
          <p:cNvPr id="25" name="Oval 24"/>
          <p:cNvSpPr/>
          <p:nvPr/>
        </p:nvSpPr>
        <p:spPr>
          <a:xfrm>
            <a:off x="1719072" y="3926041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95044" y="3656293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BF"/>
                </a:solidFill>
                <a:latin typeface="微软雅黑"/>
              </a:rPr>
              <a:t>29%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23723" y="3060192"/>
            <a:ext cx="779617" cy="1603247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23723" y="2767584"/>
            <a:ext cx="779617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微软雅黑"/>
              </a:rPr>
              <a:t>40h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59131" y="4773168"/>
            <a:ext cx="1108801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D1D1A"/>
                </a:solidFill>
                <a:latin typeface="微软雅黑"/>
              </a:rPr>
              <a:t>功能/精度/</a:t>
            </a:r>
            <a:br/>
            <a:r>
              <a:rPr sz="919" b="1">
                <a:solidFill>
                  <a:srgbClr val="1D1D1A"/>
                </a:solidFill>
                <a:latin typeface="微软雅黑"/>
              </a:rPr>
              <a:t>稳定性定界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769364" y="3403745"/>
            <a:ext cx="1344168" cy="572588"/>
          </a:xfrm>
          <a:prstGeom prst="line">
            <a:avLst/>
          </a:prstGeom>
          <a:ln w="2159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063239" y="3353453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39212" y="3083705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BF"/>
                </a:solidFill>
                <a:latin typeface="微软雅黑"/>
              </a:rPr>
              <a:t>52%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7891" y="3380841"/>
            <a:ext cx="779617" cy="128259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67891" y="3088233"/>
            <a:ext cx="779617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微软雅黑"/>
              </a:rPr>
              <a:t>32h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03299" y="4773168"/>
            <a:ext cx="1108801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D1D1A"/>
                </a:solidFill>
                <a:latin typeface="微软雅黑"/>
              </a:rPr>
              <a:t>配置</a:t>
            </a:r>
            <a:br/>
            <a:r>
              <a:rPr sz="919" b="1">
                <a:solidFill>
                  <a:srgbClr val="1D1D1A"/>
                </a:solidFill>
                <a:latin typeface="微软雅黑"/>
              </a:rPr>
              <a:t>寻优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3113532" y="2945674"/>
            <a:ext cx="1344168" cy="458071"/>
          </a:xfrm>
          <a:prstGeom prst="line">
            <a:avLst/>
          </a:prstGeom>
          <a:ln w="2159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407408" y="2895382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83380" y="2625634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BF"/>
                </a:solidFill>
                <a:latin typeface="微软雅黑"/>
              </a:rPr>
              <a:t>71%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12059" y="3701491"/>
            <a:ext cx="779617" cy="961948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12059" y="3408883"/>
            <a:ext cx="779617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5959"/>
                </a:solidFill>
                <a:latin typeface="微软雅黑"/>
              </a:rPr>
              <a:t>24h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7467" y="4773168"/>
            <a:ext cx="1108801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D1D1A"/>
                </a:solidFill>
                <a:latin typeface="微软雅黑"/>
              </a:rPr>
              <a:t>结构差异</a:t>
            </a:r>
            <a:br/>
            <a:r>
              <a:rPr sz="919" b="0">
                <a:solidFill>
                  <a:srgbClr val="1D1D1A"/>
                </a:solidFill>
                <a:latin typeface="微软雅黑"/>
              </a:rPr>
              <a:t>分析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4457700" y="2602121"/>
            <a:ext cx="1344168" cy="343553"/>
          </a:xfrm>
          <a:prstGeom prst="line">
            <a:avLst/>
          </a:prstGeom>
          <a:ln w="2159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751576" y="2551829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27548" y="2282081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BF"/>
                </a:solidFill>
                <a:latin typeface="微软雅黑"/>
              </a:rPr>
              <a:t>86%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56227" y="3701491"/>
            <a:ext cx="779617" cy="961948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56227" y="3408883"/>
            <a:ext cx="779617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5959"/>
                </a:solidFill>
                <a:latin typeface="微软雅黑"/>
              </a:rPr>
              <a:t>24h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91635" y="4773168"/>
            <a:ext cx="1108801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D1D1A"/>
                </a:solidFill>
                <a:latin typeface="微软雅黑"/>
              </a:rPr>
              <a:t>协同交接</a:t>
            </a:r>
            <a:br/>
            <a:r>
              <a:rPr sz="919" b="0">
                <a:solidFill>
                  <a:srgbClr val="1D1D1A"/>
                </a:solidFill>
                <a:latin typeface="微软雅黑"/>
              </a:rPr>
              <a:t>与返工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5801868" y="2258568"/>
            <a:ext cx="1344168" cy="343553"/>
          </a:xfrm>
          <a:prstGeom prst="line">
            <a:avLst/>
          </a:prstGeom>
          <a:ln w="2159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095744" y="220827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71716" y="193852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BF"/>
                </a:solidFill>
                <a:latin typeface="微软雅黑"/>
              </a:rPr>
              <a:t>100%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19385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95959"/>
                </a:solidFill>
                <a:latin typeface="微软雅黑"/>
              </a:rPr>
              <a:t>单模型工时（小时）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03920" y="1874519"/>
            <a:ext cx="3118104" cy="1069848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F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32520" y="202996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95959"/>
                </a:solidFill>
                <a:latin typeface="微软雅黑"/>
              </a:rPr>
              <a:t>建议总周期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2331720"/>
            <a:ext cx="248716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7000B"/>
                </a:solidFill>
                <a:latin typeface="Arial"/>
              </a:rPr>
              <a:t>168</a:t>
            </a:r>
            <a:r>
              <a:rPr sz="1250" b="1">
                <a:solidFill>
                  <a:srgbClr val="1D1D1A"/>
                </a:solidFill>
                <a:latin typeface="微软雅黑"/>
              </a:rPr>
              <a:t> 小时 / 21人日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03920" y="3127248"/>
            <a:ext cx="3118104" cy="2359152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503920" y="3127248"/>
            <a:ext cx="3118104" cy="502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05088" y="3264408"/>
            <a:ext cx="2752343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D1D1A"/>
                </a:solidFill>
                <a:latin typeface="微软雅黑"/>
              </a:rPr>
              <a:t>关键少数 · 3项</a:t>
            </a:r>
          </a:p>
        </p:txBody>
      </p:sp>
      <p:sp>
        <p:nvSpPr>
          <p:cNvPr id="58" name="Oval 57"/>
          <p:cNvSpPr/>
          <p:nvPr/>
        </p:nvSpPr>
        <p:spPr>
          <a:xfrm>
            <a:off x="8705088" y="3799332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51392" y="3721608"/>
            <a:ext cx="258775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95959"/>
                </a:solidFill>
                <a:latin typeface="微软雅黑"/>
              </a:rPr>
              <a:t>性能分析与优化：48h</a:t>
            </a:r>
          </a:p>
        </p:txBody>
      </p:sp>
      <p:sp>
        <p:nvSpPr>
          <p:cNvPr id="60" name="Oval 59"/>
          <p:cNvSpPr/>
          <p:nvPr/>
        </p:nvSpPr>
        <p:spPr>
          <a:xfrm>
            <a:off x="8705088" y="4238244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51392" y="4160520"/>
            <a:ext cx="258775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95959"/>
                </a:solidFill>
                <a:latin typeface="微软雅黑"/>
              </a:rPr>
              <a:t>问题定界：40h</a:t>
            </a:r>
          </a:p>
        </p:txBody>
      </p:sp>
      <p:sp>
        <p:nvSpPr>
          <p:cNvPr id="62" name="Oval 61"/>
          <p:cNvSpPr/>
          <p:nvPr/>
        </p:nvSpPr>
        <p:spPr>
          <a:xfrm>
            <a:off x="8705088" y="4677156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51392" y="4599432"/>
            <a:ext cx="258775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95959"/>
                </a:solidFill>
                <a:latin typeface="微软雅黑"/>
              </a:rPr>
              <a:t>配置寻优：32h</a:t>
            </a:r>
          </a:p>
        </p:txBody>
      </p:sp>
      <p:sp>
        <p:nvSpPr>
          <p:cNvPr id="64" name="Oval 63"/>
          <p:cNvSpPr/>
          <p:nvPr/>
        </p:nvSpPr>
        <p:spPr>
          <a:xfrm>
            <a:off x="8705088" y="5116068"/>
            <a:ext cx="68580" cy="6858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851392" y="5038344"/>
            <a:ext cx="258775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95959"/>
                </a:solidFill>
                <a:latin typeface="微软雅黑"/>
              </a:rPr>
              <a:t>合计 120h，占 71%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分析结论：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优先自动化“定界—分析—寻优”链路，同时减少跨域返工，最有机会压缩总交付周期。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1D1D1A"/>
                </a:solidFill>
                <a:latin typeface="微软雅黑"/>
              </a:rPr>
              <a:t>2 个量化目标分别度量交付效率与自动化复用能力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目标值沿用“可衡量、可达成、与痛点相关”的SMART原则；现状值需用统一工时口径校准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572768"/>
            <a:ext cx="5340096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8" y="1572768"/>
            <a:ext cx="5340096" cy="512064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1691640"/>
            <a:ext cx="493775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Y1 · 端到端交付效率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50008"/>
            <a:ext cx="482803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A"/>
                </a:solidFill>
                <a:latin typeface="微软雅黑"/>
              </a:rPr>
              <a:t>单模型适配优化平均周期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962656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A8A"/>
                </a:solidFill>
                <a:latin typeface="微软雅黑"/>
              </a:rPr>
              <a:t>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962656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A8A"/>
                </a:solidFill>
                <a:latin typeface="微软雅黑"/>
              </a:rPr>
              <a:t>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236976"/>
            <a:ext cx="14447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8A8A8A"/>
                </a:solidFill>
                <a:latin typeface="Arial"/>
              </a:rPr>
              <a:t>21人日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2576" y="3310128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7000B"/>
                </a:solidFill>
                <a:latin typeface="微软雅黑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5" y="3145536"/>
            <a:ext cx="2916936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C7000B"/>
                </a:solidFill>
                <a:latin typeface="Arial"/>
              </a:rPr>
              <a:t>≤12人日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40" y="4288536"/>
            <a:ext cx="4828032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42415" y="443484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5959"/>
                </a:solidFill>
                <a:latin typeface="微软雅黑"/>
              </a:rPr>
              <a:t>建议目标：整体周期压缩 ≥40%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1572768"/>
            <a:ext cx="5065776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82512" y="1572768"/>
            <a:ext cx="5065776" cy="512064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16916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Y2 · 自动化与复用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2350008"/>
            <a:ext cx="455371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A"/>
                </a:solidFill>
                <a:latin typeface="微软雅黑"/>
              </a:rPr>
              <a:t>重复性任务被 Agent/标准资产覆盖率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962656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A8A"/>
                </a:solidFill>
                <a:latin typeface="微软雅黑"/>
              </a:rPr>
              <a:t>现状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2962656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A8A"/>
                </a:solidFill>
                <a:latin typeface="微软雅黑"/>
              </a:rPr>
              <a:t>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236976"/>
            <a:ext cx="14447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8A8A8A"/>
                </a:solidFill>
                <a:latin typeface="Arial"/>
              </a:rPr>
              <a:t>~20%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310128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7000B"/>
                </a:solidFill>
                <a:latin typeface="微软雅黑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145536"/>
            <a:ext cx="2642616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C7000B"/>
                </a:solidFill>
                <a:latin typeface="Arial"/>
              </a:rPr>
              <a:t>≥70%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38544" y="4288536"/>
            <a:ext cx="4553712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75120" y="443484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5959"/>
                </a:solidFill>
                <a:latin typeface="微软雅黑"/>
              </a:rPr>
              <a:t>覆盖结构分析、问题定界、Profiling、配置寻优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5010912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关键分项目标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4956048"/>
            <a:ext cx="2212848" cy="59436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96896" y="5029200"/>
            <a:ext cx="841248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595959"/>
                </a:solidFill>
                <a:latin typeface="微软雅黑"/>
              </a:rPr>
              <a:t>问题定界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6896" y="5239512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40h → ≤16h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3168" y="4956048"/>
            <a:ext cx="2212848" cy="59436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01184" y="5029200"/>
            <a:ext cx="841248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595959"/>
                </a:solidFill>
                <a:latin typeface="微软雅黑"/>
              </a:rPr>
              <a:t>配置寻优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1184" y="5239512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32h → ≤8h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7456" y="4956048"/>
            <a:ext cx="2212848" cy="59436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05472" y="5029200"/>
            <a:ext cx="841248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595959"/>
                </a:solidFill>
                <a:latin typeface="微软雅黑"/>
              </a:rPr>
              <a:t>协同阻塞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5239512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单次 ≤1工作日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81744" y="4956048"/>
            <a:ext cx="2212848" cy="59436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09760" y="5029200"/>
            <a:ext cx="841248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595959"/>
                </a:solidFill>
                <a:latin typeface="微软雅黑"/>
              </a:rPr>
              <a:t>知识沉淀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5239512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重大问题100%回写Skill/Case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SMART：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具体到周期与覆盖率；按模型/任务可统计；以现有工程能力可达成；直接关联部门交付；建议2026年11月前完成。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D1D1A"/>
                </a:solidFill>
                <a:latin typeface="微软雅黑"/>
              </a:rPr>
              <a:t>鱼骨图从六个维度解释：为什么适配优化周期长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先保留可验证的末端原因，再用FMEA评估风险优先级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" y="3703320"/>
            <a:ext cx="9628632" cy="0"/>
          </a:xfrm>
          <a:prstGeom prst="line">
            <a:avLst/>
          </a:prstGeom>
          <a:ln w="25400">
            <a:solidFill>
              <a:srgbClr val="1D1D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10378440" y="3456432"/>
            <a:ext cx="713232" cy="502920"/>
          </a:xfrm>
          <a:prstGeom prst="chevron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87584" y="3054096"/>
            <a:ext cx="1243584" cy="1298448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524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52176" y="3310128"/>
            <a:ext cx="9144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7000B"/>
                </a:solidFill>
                <a:latin typeface="微软雅黑"/>
              </a:rPr>
              <a:t>适配优化</a:t>
            </a:r>
            <a:br/>
            <a:r>
              <a:rPr sz="1500" b="1">
                <a:solidFill>
                  <a:srgbClr val="C7000B"/>
                </a:solidFill>
                <a:latin typeface="微软雅黑"/>
              </a:rPr>
              <a:t>周期长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121408" y="2788920"/>
            <a:ext cx="621792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78992" y="182880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234440" y="1938528"/>
            <a:ext cx="841248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1947672"/>
            <a:ext cx="107899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5959"/>
                </a:solidFill>
                <a:latin typeface="微软雅黑"/>
              </a:rPr>
              <a:t>• 无统一Agent工作流</a:t>
            </a:r>
            <a:br/>
            <a:r>
              <a:rPr sz="960" b="0">
                <a:solidFill>
                  <a:srgbClr val="595959"/>
                </a:solidFill>
                <a:latin typeface="微软雅黑"/>
              </a:rPr>
              <a:t>• Profiling/寻优工具割裂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4818888" y="2788920"/>
            <a:ext cx="621792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76472" y="182880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931920" y="1938528"/>
            <a:ext cx="841248" cy="310896"/>
          </a:xfrm>
          <a:prstGeom prst="roundRect">
            <a:avLst>
              <a:gd name="adj" fmla="val 8000"/>
            </a:avLst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1947672"/>
            <a:ext cx="107899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5959"/>
                </a:solidFill>
                <a:latin typeface="微软雅黑"/>
              </a:rPr>
              <a:t>• 无结构差异清单</a:t>
            </a:r>
            <a:br/>
            <a:r>
              <a:rPr sz="960" b="0">
                <a:solidFill>
                  <a:srgbClr val="595959"/>
                </a:solidFill>
                <a:latin typeface="微软雅黑"/>
              </a:rPr>
              <a:t>• Benchmark口径不一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7516368" y="2788920"/>
            <a:ext cx="621792" cy="9144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73952" y="182880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29400" y="1938528"/>
            <a:ext cx="841248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人·协同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1947672"/>
            <a:ext cx="107899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5959"/>
                </a:solidFill>
                <a:latin typeface="微软雅黑"/>
              </a:rPr>
              <a:t>• 三域串行交接</a:t>
            </a:r>
            <a:br/>
            <a:r>
              <a:rPr sz="960" b="0">
                <a:solidFill>
                  <a:srgbClr val="595959"/>
                </a:solidFill>
                <a:latin typeface="微软雅黑"/>
              </a:rPr>
              <a:t>• 问题边界反复澄清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121408" y="3703320"/>
            <a:ext cx="621792" cy="4572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78992" y="416052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234440" y="4270248"/>
            <a:ext cx="841248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知识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4279392"/>
            <a:ext cx="107899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5959"/>
                </a:solidFill>
                <a:latin typeface="微软雅黑"/>
              </a:rPr>
              <a:t>• 经验停留在文档</a:t>
            </a:r>
            <a:br/>
            <a:r>
              <a:rPr sz="960" b="0">
                <a:solidFill>
                  <a:srgbClr val="595959"/>
                </a:solidFill>
                <a:latin typeface="微软雅黑"/>
              </a:rPr>
              <a:t>• 同类问题重复定位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818888" y="3703320"/>
            <a:ext cx="621792" cy="4572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76472" y="416052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931920" y="4270248"/>
            <a:ext cx="841248" cy="310896"/>
          </a:xfrm>
          <a:prstGeom prst="roundRect">
            <a:avLst>
              <a:gd name="adj" fmla="val 8000"/>
            </a:avLst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3752" y="4279392"/>
            <a:ext cx="107899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5959"/>
                </a:solidFill>
                <a:latin typeface="微软雅黑"/>
              </a:rPr>
              <a:t>• 缺联合评审门禁</a:t>
            </a:r>
            <a:br/>
            <a:r>
              <a:rPr sz="960" b="0">
                <a:solidFill>
                  <a:srgbClr val="595959"/>
                </a:solidFill>
                <a:latin typeface="微软雅黑"/>
              </a:rPr>
              <a:t>• 修复/优化未自动回归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516368" y="3703320"/>
            <a:ext cx="621792" cy="4572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73952" y="416052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629400" y="4270248"/>
            <a:ext cx="841248" cy="310896"/>
          </a:xfrm>
          <a:prstGeom prst="roundRect">
            <a:avLst>
              <a:gd name="adj" fmla="val 8000"/>
            </a:avLst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测量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4279392"/>
            <a:ext cx="107899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5959"/>
                </a:solidFill>
                <a:latin typeface="微软雅黑"/>
              </a:rPr>
              <a:t>• 阶段工时未记录</a:t>
            </a:r>
            <a:br/>
            <a:r>
              <a:rPr sz="960" b="0">
                <a:solidFill>
                  <a:srgbClr val="595959"/>
                </a:solidFill>
                <a:latin typeface="微软雅黑"/>
              </a:rPr>
              <a:t>• 缺统一完成标准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末端原因：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工具、方法、协同和知识四类原因相互强化，导致每个新模型都从“人工探索”重新开始。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1D1D1A"/>
                </a:solidFill>
                <a:latin typeface="微软雅黑"/>
              </a:rPr>
              <a:t>FMEA 用 S×O×D 进一步收敛，5 项原因进入主因确认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评分 1—10；RPN≥300 进入确认。S=影响严重度，O=发生频度，D=难探测度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72768"/>
          <a:ext cx="10140696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7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1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063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末端原因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当前措施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S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O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D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RPN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确认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缺统一 Agent 工作流与闭环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个人脚本 + 人工串联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512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是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配置空间靠人工试跑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经验挑选少量组合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448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是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经验未沉淀为可执行 Skill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Wiki / 口头传递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448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是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模型差异与适配点无标准方法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人工读代码 / Review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392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是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三域串行交接、缺联合门禁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会议拉通 / 临时协作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392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C7000B"/>
                          </a:solidFill>
                          <a:latin typeface="微软雅黑"/>
                        </a:rPr>
                        <a:t>是</a:t>
                      </a:r>
                    </a:p>
                  </a:txBody>
                  <a:tcPr marL="45720" marR="45720" marT="22860" marB="22860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Benchmark 与验收口径不统一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按项目临时脚本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否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阶段工时与返工未统一记录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周报人工汇总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D1D1A"/>
                          </a:solidFill>
                          <a:latin typeface="微软雅黑"/>
                        </a:rPr>
                        <a:t>否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FMEA结论：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优先解决自动化工作流、人工寻优、可执行知识、差异分析方法和跨域协同五项高RPN原因。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1D1D1A"/>
                </a:solidFill>
                <a:latin typeface="微软雅黑"/>
              </a:rPr>
              <a:t>现有工作事实初步支持 5 项主因，试点前补齐量化证据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参考项目1的要因确认表，用抽样、走查与复盘把“感觉”转化为可复核证据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72768"/>
          <a:ext cx="11055096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360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主疑因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确认方法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SMART确认标准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现状证据 / 结果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缺统一 Agent 工作流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抽取近3个模型任务，盘点重复人工步骤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重复步骤≥2次且可编排任务占比≥50%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描述中已明确需建设 workflow / skills / loop；初步成立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配置空间靠人工试跑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回放1个典型模型配置寻优记录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人工试跑≥10组或有效试验利用率&lt;50%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当前依赖人工寻优与调测；初步成立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经验未沉淀为可执行 Skill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盘点近3月问题与可复用资产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重大问题有执行型Skill/Case覆盖率&lt;50%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需赋能生态与测试，现有复用不足；初步成立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模型差异分析无标准方法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新老模型结构Diff走查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适配点清单需专家人工补充≥3项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新模型结构频繁大改，适配点依赖人工识别；初步成立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三域缺联合协同门禁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复盘阻塞与返工记录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跨域等待&gt;1工作日或同一问题往返≥2次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5" b="0">
                          <a:solidFill>
                            <a:srgbClr val="1D1D1A"/>
                          </a:solidFill>
                          <a:latin typeface="微软雅黑"/>
                        </a:rPr>
                        <a:t>框架/算子/性能需建立协同机制；初步成立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评审请求：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认可5项主因与验证口径；小组在对策试点启动前完成近3个月数据回填并冻结基线。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D1D1A"/>
                </a:solidFill>
                <a:latin typeface="微软雅黑"/>
              </a:rPr>
              <a:t>总体对策：Agent 工程仓 × 三域协同 × 双向赋能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三项对策分别对应工具、流程与知识主因，并通过统一 Benchmark 形成闭环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536192"/>
            <a:ext cx="3246120" cy="512064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1832" y="1664208"/>
            <a:ext cx="228600" cy="228600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45920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D1D1A"/>
                </a:solidFill>
                <a:latin typeface="微软雅黑"/>
              </a:rPr>
              <a:t>新模型进入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536192"/>
            <a:ext cx="3246120" cy="512064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17720" y="1664208"/>
            <a:ext cx="228600" cy="228600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1645920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D1D1A"/>
                </a:solidFill>
                <a:latin typeface="微软雅黑"/>
              </a:rPr>
              <a:t>功能/精度/稳定性问题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7" y="1536192"/>
            <a:ext cx="3246120" cy="512064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93607" y="1664208"/>
            <a:ext cx="228600" cy="228600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5" y="1645920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D1D1A"/>
                </a:solidFill>
                <a:latin typeface="微软雅黑"/>
              </a:rPr>
              <a:t>性能目标或客户诉求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359152"/>
            <a:ext cx="3584448" cy="2624328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4604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2542032"/>
            <a:ext cx="347472" cy="347472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5" y="2523744"/>
            <a:ext cx="267004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7000B"/>
                </a:solidFill>
                <a:latin typeface="微软雅黑"/>
              </a:rPr>
              <a:t>Agent 工程仓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2999232"/>
            <a:ext cx="3200400" cy="0"/>
          </a:xfrm>
          <a:prstGeom prst="line">
            <a:avLst/>
          </a:prstGeom>
          <a:ln w="1016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5528" y="3273552"/>
            <a:ext cx="64008" cy="640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200400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workflow：任务编排</a:t>
            </a:r>
          </a:p>
        </p:txBody>
      </p:sp>
      <p:sp>
        <p:nvSpPr>
          <p:cNvPr id="25" name="Oval 24"/>
          <p:cNvSpPr/>
          <p:nvPr/>
        </p:nvSpPr>
        <p:spPr>
          <a:xfrm>
            <a:off x="795528" y="3675887"/>
            <a:ext cx="64008" cy="640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602736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benchmark：统一评价</a:t>
            </a:r>
          </a:p>
        </p:txBody>
      </p:sp>
      <p:sp>
        <p:nvSpPr>
          <p:cNvPr id="27" name="Oval 26"/>
          <p:cNvSpPr/>
          <p:nvPr/>
        </p:nvSpPr>
        <p:spPr>
          <a:xfrm>
            <a:off x="795528" y="4078224"/>
            <a:ext cx="64008" cy="640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005072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skills：可执行能力</a:t>
            </a:r>
          </a:p>
        </p:txBody>
      </p:sp>
      <p:sp>
        <p:nvSpPr>
          <p:cNvPr id="29" name="Oval 28"/>
          <p:cNvSpPr/>
          <p:nvPr/>
        </p:nvSpPr>
        <p:spPr>
          <a:xfrm>
            <a:off x="795528" y="4480560"/>
            <a:ext cx="64008" cy="6400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407408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loop：评估后自动回写</a:t>
            </a:r>
          </a:p>
        </p:txBody>
      </p:sp>
      <p:sp>
        <p:nvSpPr>
          <p:cNvPr id="31" name="Chevron 30"/>
          <p:cNvSpPr/>
          <p:nvPr/>
        </p:nvSpPr>
        <p:spPr>
          <a:xfrm>
            <a:off x="4224528" y="3401568"/>
            <a:ext cx="310896" cy="530352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306824" y="2359152"/>
            <a:ext cx="3584448" cy="2624328"/>
          </a:xfrm>
          <a:prstGeom prst="roundRect">
            <a:avLst>
              <a:gd name="adj" fmla="val 8000"/>
            </a:avLst>
          </a:prstGeom>
          <a:solidFill>
            <a:srgbClr val="EDF5FD"/>
          </a:solidFill>
          <a:ln w="14604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489704" y="2542032"/>
            <a:ext cx="347472" cy="347472"/>
          </a:xfrm>
          <a:prstGeom prst="ellipse">
            <a:avLst/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5192" y="2523744"/>
            <a:ext cx="267004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6FBF"/>
                </a:solidFill>
                <a:latin typeface="微软雅黑"/>
              </a:rPr>
              <a:t>三域协同机制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89704" y="2999232"/>
            <a:ext cx="3200400" cy="0"/>
          </a:xfrm>
          <a:prstGeom prst="line">
            <a:avLst/>
          </a:prstGeom>
          <a:ln w="1016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535424" y="3273552"/>
            <a:ext cx="64008" cy="64008"/>
          </a:xfrm>
          <a:prstGeom prst="ellipse">
            <a:avLst/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00016" y="3200400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框架特性：接口与调度</a:t>
            </a:r>
          </a:p>
        </p:txBody>
      </p:sp>
      <p:sp>
        <p:nvSpPr>
          <p:cNvPr id="38" name="Oval 37"/>
          <p:cNvSpPr/>
          <p:nvPr/>
        </p:nvSpPr>
        <p:spPr>
          <a:xfrm>
            <a:off x="4535424" y="3675887"/>
            <a:ext cx="64008" cy="64008"/>
          </a:xfrm>
          <a:prstGeom prst="ellipse">
            <a:avLst/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00016" y="3602736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算子/融合：热点加速</a:t>
            </a:r>
          </a:p>
        </p:txBody>
      </p:sp>
      <p:sp>
        <p:nvSpPr>
          <p:cNvPr id="40" name="Oval 39"/>
          <p:cNvSpPr/>
          <p:nvPr/>
        </p:nvSpPr>
        <p:spPr>
          <a:xfrm>
            <a:off x="4535424" y="4078224"/>
            <a:ext cx="64008" cy="64008"/>
          </a:xfrm>
          <a:prstGeom prst="ellipse">
            <a:avLst/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00016" y="4005072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模型性能：端到端牵引</a:t>
            </a:r>
          </a:p>
        </p:txBody>
      </p:sp>
      <p:sp>
        <p:nvSpPr>
          <p:cNvPr id="42" name="Oval 41"/>
          <p:cNvSpPr/>
          <p:nvPr/>
        </p:nvSpPr>
        <p:spPr>
          <a:xfrm>
            <a:off x="4535424" y="4480560"/>
            <a:ext cx="64008" cy="64008"/>
          </a:xfrm>
          <a:prstGeom prst="ellipse">
            <a:avLst/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00016" y="4407408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共同门禁：收益与回归</a:t>
            </a:r>
          </a:p>
        </p:txBody>
      </p:sp>
      <p:sp>
        <p:nvSpPr>
          <p:cNvPr id="44" name="Chevron 43"/>
          <p:cNvSpPr/>
          <p:nvPr/>
        </p:nvSpPr>
        <p:spPr>
          <a:xfrm>
            <a:off x="7964424" y="3401568"/>
            <a:ext cx="310896" cy="530352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046720" y="2359152"/>
            <a:ext cx="3584448" cy="2624328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4604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229600" y="2542032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8" y="2523744"/>
            <a:ext cx="267004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8B57"/>
                </a:solidFill>
                <a:latin typeface="微软雅黑"/>
              </a:rPr>
              <a:t>生态 / 测试赋能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29600" y="2999232"/>
            <a:ext cx="3200400" cy="0"/>
          </a:xfrm>
          <a:prstGeom prst="line">
            <a:avLst/>
          </a:prstGeom>
          <a:ln w="1016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275320" y="3273552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39912" y="3200400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生态：客户问题排查包</a:t>
            </a:r>
          </a:p>
        </p:txBody>
      </p:sp>
      <p:sp>
        <p:nvSpPr>
          <p:cNvPr id="51" name="Oval 50"/>
          <p:cNvSpPr/>
          <p:nvPr/>
        </p:nvSpPr>
        <p:spPr>
          <a:xfrm>
            <a:off x="8275320" y="3675887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9912" y="3602736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测试：验收基线与用例</a:t>
            </a:r>
          </a:p>
        </p:txBody>
      </p:sp>
      <p:sp>
        <p:nvSpPr>
          <p:cNvPr id="53" name="Oval 52"/>
          <p:cNvSpPr/>
          <p:nvPr/>
        </p:nvSpPr>
        <p:spPr>
          <a:xfrm>
            <a:off x="8275320" y="4078224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9912" y="4005072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模型卡：配置与已知问题</a:t>
            </a:r>
          </a:p>
        </p:txBody>
      </p:sp>
      <p:sp>
        <p:nvSpPr>
          <p:cNvPr id="55" name="Oval 54"/>
          <p:cNvSpPr/>
          <p:nvPr/>
        </p:nvSpPr>
        <p:spPr>
          <a:xfrm>
            <a:off x="8275320" y="4480560"/>
            <a:ext cx="64008" cy="6400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39912" y="4407408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版本化发布与反馈回流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1248" y="5193792"/>
            <a:ext cx="2578608" cy="429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0976" y="5276088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C7000B"/>
                </a:solidFill>
                <a:latin typeface="微软雅黑"/>
              </a:rPr>
              <a:t>周期可量化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02736" y="5193792"/>
            <a:ext cx="2578608" cy="429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12463" y="5276088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C7000B"/>
                </a:solidFill>
                <a:latin typeface="微软雅黑"/>
              </a:rPr>
              <a:t>问题可复现/定界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64224" y="5193792"/>
            <a:ext cx="2578608" cy="429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73952" y="5276088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C7000B"/>
                </a:solidFill>
                <a:latin typeface="微软雅黑"/>
              </a:rPr>
              <a:t>性能可自动寻优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25712" y="5193792"/>
            <a:ext cx="2578608" cy="429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35440" y="5276088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C7000B"/>
                </a:solidFill>
                <a:latin typeface="微软雅黑"/>
              </a:rPr>
              <a:t>经验可跨团队复用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闭环逻辑：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统一输入 → Agent编排 → 三域并行执行 → Benchmark门禁 → 资产回写 → 生态/测试复用。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D1D1A"/>
                </a:solidFill>
                <a:latin typeface="微软雅黑"/>
              </a:rPr>
              <a:t>Agent 仓将“专家经验”编排为可重复执行的优化循环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仓库不只是脚本集合，而是包含计划、执行、评价、回写的工程化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54480"/>
            <a:ext cx="2651760" cy="859536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Arial"/>
              </a:rPr>
              <a:t>workflows/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47672"/>
            <a:ext cx="231343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95959"/>
                </a:solidFill>
                <a:latin typeface="微软雅黑"/>
              </a:rPr>
              <a:t>开箱适配 · 问题定界 · 性能优化 · 配置寻优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54480"/>
            <a:ext cx="2651760" cy="859536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9584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F6FBF"/>
                </a:solidFill>
                <a:latin typeface="Arial"/>
              </a:rPr>
              <a:t>benchmark/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1947672"/>
            <a:ext cx="231343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95959"/>
                </a:solidFill>
                <a:latin typeface="微软雅黑"/>
              </a:rPr>
              <a:t>功能 · 精度 · 稳定性 · 性能统一基线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554480"/>
            <a:ext cx="2651760" cy="859536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F6FBF"/>
                </a:solidFill>
                <a:latin typeface="Arial"/>
              </a:rPr>
              <a:t>skills/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947672"/>
            <a:ext cx="231343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95959"/>
                </a:solidFill>
                <a:latin typeface="微软雅黑"/>
              </a:rPr>
              <a:t>结构Diff · dump/trace · profiling · 算子/内存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554480"/>
            <a:ext cx="2651760" cy="859536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Arial"/>
              </a:rPr>
              <a:t>loop/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1947672"/>
            <a:ext cx="231343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95959"/>
                </a:solidFill>
                <a:latin typeface="微软雅黑"/>
              </a:rPr>
              <a:t>Plan → Execute → Evaluate → Learn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688336"/>
            <a:ext cx="1755648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一条标准工作流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82112"/>
            <a:ext cx="1225296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7512" y="3300984"/>
            <a:ext cx="256032" cy="256032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3685032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1D1D1A"/>
                </a:solidFill>
                <a:latin typeface="微软雅黑"/>
              </a:rPr>
              <a:t>识别输入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782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5959"/>
                </a:solidFill>
                <a:latin typeface="微软雅黑"/>
              </a:rPr>
              <a:t>模型/问题/目标</a:t>
            </a:r>
          </a:p>
        </p:txBody>
      </p:sp>
      <p:sp>
        <p:nvSpPr>
          <p:cNvPr id="27" name="Chevron 26"/>
          <p:cNvSpPr/>
          <p:nvPr/>
        </p:nvSpPr>
        <p:spPr>
          <a:xfrm>
            <a:off x="1815084" y="3657600"/>
            <a:ext cx="201168" cy="347472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56816" y="3182112"/>
            <a:ext cx="1225296" cy="132588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79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057400" y="3300984"/>
            <a:ext cx="256032" cy="256032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2" y="3685032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1D1D1A"/>
                </a:solidFill>
                <a:latin typeface="微软雅黑"/>
              </a:rPr>
              <a:t>结构Diff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40782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5959"/>
                </a:solidFill>
                <a:latin typeface="微软雅黑"/>
              </a:rPr>
              <a:t>生成适配点</a:t>
            </a:r>
          </a:p>
        </p:txBody>
      </p:sp>
      <p:sp>
        <p:nvSpPr>
          <p:cNvPr id="32" name="Chevron 31"/>
          <p:cNvSpPr/>
          <p:nvPr/>
        </p:nvSpPr>
        <p:spPr>
          <a:xfrm>
            <a:off x="3204972" y="3657600"/>
            <a:ext cx="201168" cy="347472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346704" y="3182112"/>
            <a:ext cx="1225296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47288" y="3300984"/>
            <a:ext cx="256032" cy="256032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3685032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1D1D1A"/>
                </a:solidFill>
                <a:latin typeface="微软雅黑"/>
              </a:rPr>
              <a:t>开箱适配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19856" y="40782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5959"/>
                </a:solidFill>
                <a:latin typeface="微软雅黑"/>
              </a:rPr>
              <a:t>功能先跑通</a:t>
            </a:r>
          </a:p>
        </p:txBody>
      </p:sp>
      <p:sp>
        <p:nvSpPr>
          <p:cNvPr id="37" name="Chevron 36"/>
          <p:cNvSpPr/>
          <p:nvPr/>
        </p:nvSpPr>
        <p:spPr>
          <a:xfrm>
            <a:off x="4594860" y="3657600"/>
            <a:ext cx="201168" cy="347472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736592" y="3182112"/>
            <a:ext cx="1225296" cy="132588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79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837176" y="3300984"/>
            <a:ext cx="256032" cy="256032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888" y="3685032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1D1D1A"/>
                </a:solidFill>
                <a:latin typeface="微软雅黑"/>
              </a:rPr>
              <a:t>问题定界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9744" y="40782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5959"/>
                </a:solidFill>
                <a:latin typeface="微软雅黑"/>
              </a:rPr>
              <a:t>精度/稳定性</a:t>
            </a:r>
          </a:p>
        </p:txBody>
      </p:sp>
      <p:sp>
        <p:nvSpPr>
          <p:cNvPr id="42" name="Chevron 41"/>
          <p:cNvSpPr/>
          <p:nvPr/>
        </p:nvSpPr>
        <p:spPr>
          <a:xfrm>
            <a:off x="5984748" y="3657600"/>
            <a:ext cx="201168" cy="347472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126479" y="3182112"/>
            <a:ext cx="1225296" cy="132588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79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227064" y="3300984"/>
            <a:ext cx="256032" cy="256032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8775" y="3685032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1D1D1A"/>
                </a:solidFill>
                <a:latin typeface="微软雅黑"/>
              </a:rPr>
              <a:t>Profiling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1" y="40782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5959"/>
                </a:solidFill>
                <a:latin typeface="微软雅黑"/>
              </a:rPr>
              <a:t>热点/通信/内存</a:t>
            </a:r>
          </a:p>
        </p:txBody>
      </p:sp>
      <p:sp>
        <p:nvSpPr>
          <p:cNvPr id="47" name="Chevron 46"/>
          <p:cNvSpPr/>
          <p:nvPr/>
        </p:nvSpPr>
        <p:spPr>
          <a:xfrm>
            <a:off x="7374636" y="3657600"/>
            <a:ext cx="201168" cy="347472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516367" y="3182112"/>
            <a:ext cx="1225296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616951" y="3300984"/>
            <a:ext cx="256032" cy="256032"/>
          </a:xfrm>
          <a:prstGeom prst="ellipse">
            <a:avLst/>
          </a:prstGeom>
          <a:solidFill>
            <a:srgbClr val="1D1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98663" y="3685032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1D1D1A"/>
                </a:solidFill>
                <a:latin typeface="微软雅黑"/>
              </a:rPr>
              <a:t>优化实施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19" y="40782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5959"/>
                </a:solidFill>
                <a:latin typeface="微软雅黑"/>
              </a:rPr>
              <a:t>框架/算子</a:t>
            </a:r>
          </a:p>
        </p:txBody>
      </p:sp>
      <p:sp>
        <p:nvSpPr>
          <p:cNvPr id="52" name="Chevron 51"/>
          <p:cNvSpPr/>
          <p:nvPr/>
        </p:nvSpPr>
        <p:spPr>
          <a:xfrm>
            <a:off x="8764524" y="3657600"/>
            <a:ext cx="201168" cy="347472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906255" y="3182112"/>
            <a:ext cx="1225296" cy="132588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79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006839" y="3300984"/>
            <a:ext cx="256032" cy="256032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1" y="3685032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1D1D1A"/>
                </a:solidFill>
                <a:latin typeface="微软雅黑"/>
              </a:rPr>
              <a:t>配置寻优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79407" y="40782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5959"/>
                </a:solidFill>
                <a:latin typeface="微软雅黑"/>
              </a:rPr>
              <a:t>自动试验</a:t>
            </a:r>
          </a:p>
        </p:txBody>
      </p:sp>
      <p:sp>
        <p:nvSpPr>
          <p:cNvPr id="57" name="Chevron 56"/>
          <p:cNvSpPr/>
          <p:nvPr/>
        </p:nvSpPr>
        <p:spPr>
          <a:xfrm>
            <a:off x="10154411" y="3657600"/>
            <a:ext cx="201168" cy="347472"/>
          </a:xfrm>
          <a:prstGeom prst="chevron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296143" y="3182112"/>
            <a:ext cx="1225296" cy="132588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079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396727" y="3300984"/>
            <a:ext cx="256032" cy="256032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78439" y="3685032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1D1D1A"/>
                </a:solidFill>
                <a:latin typeface="微软雅黑"/>
              </a:rPr>
              <a:t>门禁回写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9295" y="4078224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95959"/>
                </a:solidFill>
                <a:latin typeface="微软雅黑"/>
              </a:rPr>
              <a:t>基线+Skill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1152144" y="4645152"/>
            <a:ext cx="9729216" cy="0"/>
          </a:xfrm>
          <a:prstGeom prst="line">
            <a:avLst/>
          </a:prstGeom>
          <a:ln w="1651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956816" y="4727448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F6FBF"/>
                </a:solidFill>
                <a:latin typeface="微软雅黑"/>
              </a:rPr>
              <a:t>评估失败自动回到最近可行动步骤；成功则固化配置、基线、报告和可执行Skill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人机边界：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Agent负责重复分析与证据整理；模型/框架/算子专家负责高风险判断、收益审查与最终合入。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1D1D1A"/>
                </a:solidFill>
                <a:latin typeface="微软雅黑"/>
              </a:rPr>
              <a:t>用联合门禁替代串行交接，并把交付件打包给生态与测试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协同机制决定 Agent 结论能否变成工程收益，赋能包决定经验能否跨团队复用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36192"/>
            <a:ext cx="2926080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三域 RACI · 以阶段门禁共同负责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901952"/>
          <a:ext cx="5833872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8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模型性能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框架特性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算子/融合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适配点识别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A/R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R/C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C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问题定界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A/R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R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R/C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优化方案评审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收益与回归门禁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A/R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R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R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资产回写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A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D1D1A"/>
                          </a:solidFill>
                          <a:latin typeface="微软雅黑"/>
                        </a:rPr>
                        <a:t>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5340096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95959"/>
                </a:solidFill>
                <a:latin typeface="微软雅黑"/>
              </a:rPr>
              <a:t>A=最终负责  R=执行负责  C=协同评审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1536192"/>
            <a:ext cx="3273552" cy="310896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7315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FFFFFF"/>
                </a:solidFill>
                <a:latin typeface="微软雅黑"/>
              </a:rPr>
              <a:t>双向赋能 · 同源资产，不同消费形态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1901952"/>
            <a:ext cx="4965192" cy="1481328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0160">
            <a:solidFill>
              <a:srgbClr val="CDE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56832" y="1901952"/>
            <a:ext cx="4965192" cy="5029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2039112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D1D1A"/>
                </a:solidFill>
                <a:latin typeface="微软雅黑"/>
              </a:rPr>
              <a:t>生态支持包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2574036"/>
            <a:ext cx="68580" cy="685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04304" y="2496312"/>
            <a:ext cx="443484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问题分诊 workflow + 常见问题 Skill + 配置/已知问题模型卡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3012948"/>
            <a:ext cx="68580" cy="685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04304" y="2935224"/>
            <a:ext cx="443484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目标：外部客户重复问题由生态同事自主闭环 ≥70%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6832" y="3566160"/>
            <a:ext cx="4965192" cy="1481328"/>
          </a:xfrm>
          <a:prstGeom prst="roundRect">
            <a:avLst>
              <a:gd name="adj" fmla="val 8000"/>
            </a:avLst>
          </a:prstGeom>
          <a:solidFill>
            <a:srgbClr val="EDF5FD"/>
          </a:solidFill>
          <a:ln w="10160">
            <a:solidFill>
              <a:srgbClr val="CF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56832" y="3566160"/>
            <a:ext cx="4965192" cy="50292"/>
          </a:xfrm>
          <a:prstGeom prst="rect">
            <a:avLst/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3703320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D1D1A"/>
                </a:solidFill>
                <a:latin typeface="微软雅黑"/>
              </a:rPr>
              <a:t>测试验收包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4238244"/>
            <a:ext cx="68580" cy="68580"/>
          </a:xfrm>
          <a:prstGeom prst="ellipse">
            <a:avLst/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04304" y="4160520"/>
            <a:ext cx="443484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一键 benchmark + 验收场景清单 + 性能/精度/稳定性基线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4677155"/>
            <a:ext cx="68580" cy="68580"/>
          </a:xfrm>
          <a:prstGeom prst="ellipse">
            <a:avLst/>
          </a:prstGeom>
          <a:solidFill>
            <a:srgbClr val="1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04304" y="4599431"/>
            <a:ext cx="443484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目标：内部需求验收可复现、差异可定位、结果可追溯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7240" y="57881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733288"/>
            <a:ext cx="10287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统一 DoD：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功能/精度/稳定性通过 + 性能达标 + 配置可复现 + 报告/Skill/Case/验收用例完成回写。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0256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团队组建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22108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选定主题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23960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把握现状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9925812" y="36576"/>
            <a:ext cx="1101852" cy="283464"/>
          </a:xfrm>
          <a:prstGeom prst="rect">
            <a:avLst/>
          </a:prstGeom>
          <a:solidFill>
            <a:srgbClr val="FAFAFA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D1D1A"/>
                </a:solidFill>
                <a:latin typeface="微软雅黑"/>
              </a:rPr>
              <a:t>分析要因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27664" y="36576"/>
            <a:ext cx="1101852" cy="283464"/>
          </a:xfrm>
          <a:prstGeom prst="rect">
            <a:avLst/>
          </a:prstGeom>
          <a:solidFill>
            <a:srgbClr val="FFF5F5"/>
          </a:solidFill>
          <a:ln w="8890">
            <a:solidFill>
              <a:srgbClr val="1D1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C7000B"/>
                </a:solidFill>
                <a:latin typeface="微软雅黑"/>
              </a:rPr>
              <a:t>拟定对策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3192"/>
            <a:ext cx="59436" cy="3931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01752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D1D1A"/>
                </a:solidFill>
                <a:latin typeface="微软雅黑"/>
              </a:rPr>
              <a:t>用 5W1H 将三项对策拆成 6 个可验收行动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033271"/>
            <a:ext cx="10927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5959"/>
                </a:solidFill>
                <a:latin typeface="微软雅黑"/>
              </a:rPr>
              <a:t>责任人先以角色占位，会后替换姓名；日期为建议节奏，可结合版本计划调整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508760"/>
          <a:ext cx="114300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46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656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No.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Why / 主因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What / 对策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Who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When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How / 关键措施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>
                          <a:solidFill>
                            <a:srgbClr val="FFFFFF"/>
                          </a:solidFill>
                          <a:latin typeface="微软雅黑"/>
                        </a:rPr>
                        <a:t>验收指标</a:t>
                      </a:r>
                    </a:p>
                  </a:txBody>
                  <a:tcPr marL="45720" marR="45720" marT="22860" marB="22860">
                    <a:solidFill>
                      <a:srgbClr val="1D1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无统一Agent工作流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搭建仓库骨架与契约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Agent仓负责人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09/20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定义workflow/benchmark/skills/loop目录、输入输出与版本规范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4类目录可运行；模板齐套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差异分析靠人工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模型结构Diff工作流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模型适配负责人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09/30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解析原生实现与vLLM接口，生成适配点、风险项和任务清单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适配点人工复核召回≥90%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问题定界/Profiling割裂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问题分诊与性能分析Skills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问题/性能负责人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10/15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统一复现、日志/dump、profiling、内存与通信分析步骤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典型定界40h→≤16h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配置靠人工试跑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自动配置寻优Loop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性能负责人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10/31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约束空间→批量执行→指标采集→淘汰/收敛→最优配置回写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寻优32h→≤8h；人工轮次降70%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三域串行交接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RACI与联合门禁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课题圈长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09/20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统一看板、每日阻塞清理、周度方案/收益/回归评审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跨域阻塞≤1工作日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5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知识难跨团队复用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生态包+测试验收包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赋能负责人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11/10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发布模型卡、Skill/Case、基线、用例与一键入口，接入反馈回流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5" b="0">
                          <a:solidFill>
                            <a:srgbClr val="1D1D1A"/>
                          </a:solidFill>
                          <a:latin typeface="微软雅黑"/>
                        </a:rPr>
                        <a:t>重复问题自主闭环≥70%</a:t>
                      </a:r>
                    </a:p>
                  </a:txBody>
                  <a:tcPr marL="45720" marR="45720" marT="22860" marB="2286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870448"/>
            <a:ext cx="11055096" cy="384048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39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594817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7000B"/>
                </a:solidFill>
                <a:latin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952744"/>
            <a:ext cx="10287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7000B"/>
                </a:solidFill>
                <a:latin typeface="微软雅黑"/>
              </a:rPr>
              <a:t>可操作性：</a:t>
            </a:r>
            <a:r>
              <a:rPr sz="1220" b="0">
                <a:solidFill>
                  <a:srgbClr val="1D1D1A"/>
                </a:solidFill>
                <a:latin typeface="微软雅黑"/>
              </a:rPr>
              <a:t>先以1个新模型+1个典型性能问题试点，周度量化收益；达标后复制到后续多模态模型。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98</TotalTime>
  <Words>1681</Words>
  <Application>Microsoft Office PowerPoint</Application>
  <PresentationFormat>自定义</PresentationFormat>
  <Paragraphs>626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微软雅黑</vt:lpstr>
      <vt:lpstr>微软雅黑</vt:lpstr>
      <vt:lpstr>Arial</vt:lpstr>
      <vt:lpstr>Calibri</vt:lpstr>
      <vt:lpstr>Calibri Light</vt:lpstr>
      <vt:lpstr>封面页_图片版 </vt:lpstr>
      <vt:lpstr>目录页</vt:lpstr>
      <vt:lpstr>章节页</vt:lpstr>
      <vt:lpstr>结束页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提升多模态模型适配与优化效率（问题解决型）- 对策评审</dc:title>
  <dc:subject>多模态模型组持续改进 QCC 对策评审</dc:subject>
  <dc:creator>多模态模型组</dc:creator>
  <dc:description>基于两份参考项目PPT的QCC逻辑与企业版式重构；建议基线需用近3个月实测数据校准。</dc:description>
  <cp:lastModifiedBy>longgang (A)</cp:lastModifiedBy>
  <cp:revision>204</cp:revision>
  <dcterms:created xsi:type="dcterms:W3CDTF">2020-08-28T08:44:19Z</dcterms:created>
  <dcterms:modified xsi:type="dcterms:W3CDTF">2026-09-03T00:24:15Z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