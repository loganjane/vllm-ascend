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7"/>
  </p:notesMasterIdLst>
  <p:handoutMasterIdLst>
    <p:handoutMasterId r:id="rId18"/>
  </p:handoutMasterIdLst>
  <p:sldIdLst>
    <p:sldId id="283" r:id="rId5"/>
    <p:sldId id="292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93" r:id="rId15"/>
    <p:sldId id="280" r:id="rId16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92"/>
          </p14:sldIdLst>
        </p14:section>
        <p14:section name="章节页" id="{FD05EE94-C931-8C4B-83A2-004B32AA1207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93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002F"/>
    <a:srgbClr val="FFFFFF"/>
    <a:srgbClr val="000000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99" d="100"/>
          <a:sy n="99" d="100"/>
        </p:scale>
        <p:origin x="120" y="4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随着 vLLM-Ascend 在实际推理场景中逐步落地，问题开始暴露。不同于 CUDA 的算子实现、数值精度策略和 KV Cache 机制差异，容易引入跨端推理结果不一致的问题。当前缺乏有效的逐层对齐与自动化定位手段，导致精度问题难以快速发现与归因。同时在持续版本迭代中也缺少体系化的回归检测机制，影响推理结果的稳定性与可靠性。我们的改进方向是构建复现、定界、回归的端到端能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主题的成立有双重依据。一是部门公示短板，跨端推理结果不一致、缺逐层对齐与自动化定位手段、缺体系化回归检测机制。二是来自八个局点的客户声音，美的、南网、天翼云、中信、蚂蚁、平安、华为流程IT等都反馈了乱码和重复输出问题。本主题正对短板，且有充分客户佐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为了不遗漏改进方向，我们围绕 vLLM-Ascend 推理全流程做头脑风暴，发散出跨端不一致、乱码、吞吐、显存、调度、KV 传输、工具链等十多个问题点。再用亲和图即 KJ 法归类，收敛成六个相互正交、覆盖全流程的候选方向：推理精度、吞吐性能、显存内存、调度部署、KV 传输通信、工具链可观测。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个候选用因果矩阵打分，维度是客户影响、发生频率、短板契合度，按一三九量化。推理精度三维度都取九，合计八十一分独占最高。吞吐和工具链虽然客户影响和频率也高，但不是部门首要短板，契合度低。其余候选分数更低。因此选定推理精度作为改进主题，其他方向作为后续课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选定的改进主题是提升 vLLM-Ascend 精度问题的定位效率与回归看护能力，符合动宾短语要求。它对应三阶段措施：定位前发现，业务场景用例覆盖每日冒烟加在线异常监控；定位中定界，DFX 日志加 metric 观测点，工具支持 NPU 和 GPU 逐层自动比对；定位后回归，典型 case 加入用例看护，构建精度问题分析定位 skills 库。我们用鱼骨图论证选题，从现象、工具、机制、场景四个维度分析精度定位短板的成因链，印证该主题值得立项。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我们用 SIPOC 圈定改进范围。供应源是现网推理请求，输入是模型权重、算子、KV Cache 机制和调度配置，过程是 vLLM-Ascend 推理，输出是推理 token，客户是回归用例和现网反馈。改进焦点锁定在推理过程，度量对象是输出精度。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八个局点的现网问题以事实数据呈现，覆盖 GLM5、GLM5.1、DSv4 多个模型，以及 A2、A3、混部多种形态。七个局点有精度问题，智谱作为对照基准无问题。样本量八个局点大于五，证据客观充分，数据来源是攻关日报。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我们对二十三条现象记录按类型归并做柏拉图分析。前三类，也就是 PD 分离加 MTP、长序列乱码、重计算后乱码，合计占百分之七十，符合二八原则。关键症结方向锁定为 PD 分离加 MTP 协同。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个量化目标分别度量定界效率和回归覆盖，均对照现状基线制定。第一个目标，精度问题四十八小时定位率，从现状约百分之三十提升到百分之八十，依据是客户响应要求和内部考核，措施支撑是定位前在线监控、定位中 DFX 日志和逐层比对工具。第二个目标，业务场景回归用例覆盖率，从现状约百分之四十提升到百分之九十，依据是客户要求和长序列、工具调用短板，措施支撑是定位前每日冒烟和定位后 case 看护。定位后 skills 库作为沉淀资产支撑定位率长期提升。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068" y="2130426"/>
            <a:ext cx="7775436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136" y="3886200"/>
            <a:ext cx="64033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18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8996" y="907092"/>
            <a:ext cx="5199385" cy="690255"/>
          </a:xfrm>
        </p:spPr>
        <p:txBody>
          <a:bodyPr>
            <a:normAutofit fontScale="90000"/>
          </a:bodyPr>
          <a:lstStyle/>
          <a:p>
            <a:r>
              <a:rPr lang="zh-CN" altLang="zh-CN" sz="3200" b="1" dirty="0">
                <a:solidFill>
                  <a:srgbClr val="1D1D1A"/>
                </a:solidFill>
                <a:latin typeface="Arial"/>
                <a:ea typeface="Microsoft YaHei"/>
                <a:cs typeface="Arial"/>
              </a:rPr>
              <a:t>提升推理精度</a:t>
            </a:r>
            <a:r>
              <a:rPr lang="zh-CN" altLang="en-US" sz="3200" b="1" dirty="0">
                <a:solidFill>
                  <a:srgbClr val="1D1D1A"/>
                </a:solidFill>
                <a:latin typeface="Arial"/>
                <a:ea typeface="Microsoft YaHei"/>
                <a:cs typeface="Arial"/>
              </a:rPr>
              <a:t>问题</a:t>
            </a:r>
            <a:r>
              <a:rPr lang="zh-CN" altLang="zh-CN" sz="3200" b="1" dirty="0">
                <a:solidFill>
                  <a:srgbClr val="1D1D1A"/>
                </a:solidFill>
                <a:latin typeface="Arial"/>
                <a:ea typeface="Microsoft YaHei"/>
                <a:cs typeface="Arial"/>
              </a:rPr>
              <a:t>的</a:t>
            </a:r>
            <a:r>
              <a:rPr lang="zh-CN" altLang="zh-CN" sz="3200" b="1" dirty="0">
                <a:solidFill>
                  <a:srgbClr val="C7000B"/>
                </a:solidFill>
                <a:latin typeface="Arial"/>
                <a:ea typeface="Microsoft YaHei"/>
                <a:cs typeface="Arial"/>
              </a:rPr>
              <a:t>定位效率与回归看护能力</a:t>
            </a:r>
            <a:br>
              <a:rPr lang="en-US" altLang="zh-CN" sz="3200" b="1" dirty="0">
                <a:solidFill>
                  <a:srgbClr val="C7000B"/>
                </a:solidFill>
                <a:latin typeface="Arial"/>
                <a:ea typeface="Microsoft YaHei"/>
                <a:cs typeface="Arial"/>
              </a:rPr>
            </a:br>
            <a:r>
              <a:rPr lang="zh-CN" altLang="en-US" b="1" dirty="0">
                <a:latin typeface="Arial"/>
                <a:ea typeface="Microsoft YaHei"/>
                <a:cs typeface="Arial"/>
              </a:rPr>
              <a:t>圈名：</a:t>
            </a:r>
            <a:r>
              <a:rPr lang="zh-CN" altLang="en-US" b="1" dirty="0">
                <a:solidFill>
                  <a:srgbClr val="C7000B"/>
                </a:solidFill>
                <a:latin typeface="Arial"/>
                <a:ea typeface="Microsoft YaHei"/>
                <a:cs typeface="Arial"/>
              </a:rPr>
              <a:t>推理护航圈</a:t>
            </a:r>
            <a:br>
              <a:rPr lang="zh-CN" altLang="zh-CN" sz="3200" b="1" dirty="0">
                <a:solidFill>
                  <a:srgbClr val="C7000B"/>
                </a:solidFill>
                <a:latin typeface="Arial"/>
                <a:ea typeface="Microsoft YaHei"/>
                <a:cs typeface="Arial"/>
              </a:rPr>
            </a:br>
            <a:endParaRPr lang="zh-CN" alt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996" y="2842788"/>
            <a:ext cx="4837798" cy="893416"/>
          </a:xfrm>
        </p:spPr>
        <p:txBody>
          <a:bodyPr lIns="0" tIns="0" rIns="0" bIns="0"/>
          <a:lstStyle/>
          <a:p>
            <a:r>
              <a:rPr lang="zh-CN" altLang="en-US" dirty="0">
                <a:latin typeface="+mj-ea"/>
                <a:ea typeface="+mj-ea"/>
              </a:rPr>
              <a:t>圈长：</a:t>
            </a:r>
            <a:r>
              <a:rPr lang="en-US" altLang="zh-CN" dirty="0">
                <a:latin typeface="+mj-ea"/>
                <a:ea typeface="+mj-ea"/>
              </a:rPr>
              <a:t>xxx</a:t>
            </a:r>
          </a:p>
          <a:p>
            <a:r>
              <a:rPr lang="zh-CN" altLang="en-US" dirty="0">
                <a:latin typeface="+mj-ea"/>
                <a:ea typeface="+mj-ea"/>
              </a:rPr>
              <a:t>辅导员：</a:t>
            </a:r>
            <a:r>
              <a:rPr lang="en-US" altLang="zh-CN" dirty="0">
                <a:latin typeface="+mj-ea"/>
                <a:ea typeface="+mj-ea"/>
              </a:rPr>
              <a:t>xxx</a:t>
            </a:r>
          </a:p>
          <a:p>
            <a:r>
              <a:rPr lang="zh-CN" altLang="en-US" dirty="0">
                <a:latin typeface="+mj-ea"/>
                <a:ea typeface="+mj-ea"/>
              </a:rPr>
              <a:t>圈员：</a:t>
            </a:r>
            <a:r>
              <a:rPr lang="en-US" altLang="zh-CN" i="0" dirty="0">
                <a:solidFill>
                  <a:srgbClr val="191919"/>
                </a:solidFill>
                <a:effectLst/>
                <a:latin typeface="+mj-ea"/>
                <a:ea typeface="+mj-ea"/>
              </a:rPr>
              <a:t>xxx</a:t>
            </a:r>
            <a:endParaRPr lang="en-US" dirty="0">
              <a:latin typeface="+mj-ea"/>
              <a:ea typeface="+mj-e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566F3-A3A5-4146-9236-C652EFF2FB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部门短板</a:t>
            </a:r>
            <a:endParaRPr lang="en-US" altLang="zh-CN" dirty="0"/>
          </a:p>
          <a:p>
            <a:r>
              <a:rPr lang="zh-CN" altLang="en-US" dirty="0"/>
              <a:t>选定主题</a:t>
            </a:r>
            <a:endParaRPr lang="en-US" altLang="zh-CN" dirty="0"/>
          </a:p>
          <a:p>
            <a:r>
              <a:rPr lang="zh-CN" altLang="en-US" dirty="0"/>
              <a:t>把握现状</a:t>
            </a:r>
            <a:endParaRPr lang="en-US" altLang="zh-CN" dirty="0"/>
          </a:p>
          <a:p>
            <a:r>
              <a:rPr lang="zh-CN" altLang="en-US" dirty="0"/>
              <a:t>设定目标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45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73881" y="355891"/>
            <a:ext cx="9769144" cy="484748"/>
            <a:chOff x="571500" y="355891"/>
            <a:chExt cx="9769144" cy="484748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3810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13008" y="355891"/>
              <a:ext cx="9627636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vLLM-Ascend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落地暴露精度短板，缺端到端可控能力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35661" y="1163373"/>
            <a:ext cx="8786060" cy="230832"/>
            <a:chOff x="733280" y="1163373"/>
            <a:chExt cx="8786060" cy="230832"/>
          </a:xfrm>
        </p:grpSpPr>
        <p:sp>
          <p:nvSpPr>
            <p:cNvPr id="8" name="TextBox 8"/>
            <p:cNvSpPr txBox="1"/>
            <p:nvPr/>
          </p:nvSpPr>
          <p:spPr>
            <a:xfrm>
              <a:off x="733280" y="1163373"/>
              <a:ext cx="87860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随着 </a:t>
              </a:r>
              <a:r>
                <a:rPr lang="en-US" alt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vLLM-Ascend </a:t>
              </a:r>
              <a:r>
                <a:rPr lang="zh-CN" altLang="en-US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逐步落地，跨端精度差异与缺失的对齐定位手段，使精度问题难以快速发现与归因。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3881" y="1857375"/>
            <a:ext cx="6096000" cy="1905000"/>
            <a:chOff x="571500" y="1857375"/>
            <a:chExt cx="60960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857375"/>
              <a:ext cx="6096000" cy="1905000"/>
            </a:xfrm>
            <a:prstGeom prst="roundRect">
              <a:avLst>
                <a:gd name="adj" fmla="val 4000"/>
              </a:avLst>
            </a:prstGeom>
            <a:solidFill>
              <a:srgbClr val="F5F5F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33438" y="2090738"/>
              <a:ext cx="200025" cy="200025"/>
              <a:chOff x="833438" y="2090738"/>
              <a:chExt cx="200025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33438" y="21574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66675" y="33338"/>
                    </a:lnTo>
                    <a:lnTo>
                      <a:pt x="33338" y="0"/>
                    </a:ln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6788" y="21574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66675" y="33338"/>
                    </a:lnTo>
                    <a:lnTo>
                      <a:pt x="33338" y="0"/>
                    </a:ln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00113" y="20907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66675" y="33338"/>
                    </a:lnTo>
                    <a:lnTo>
                      <a:pt x="33338" y="0"/>
                    </a:ln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0113" y="22240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66675" y="33338"/>
                    </a:lnTo>
                    <a:lnTo>
                      <a:pt x="33338" y="0"/>
                    </a:ln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41095" y="2088832"/>
              <a:ext cx="148117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落地现状与短板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00100" y="2419350"/>
              <a:ext cx="5638800" cy="9525"/>
            </a:xfrm>
            <a:custGeom>
              <a:avLst/>
              <a:gdLst/>
              <a:ahLst/>
              <a:cxnLst/>
              <a:rect l="l" t="t" r="r" b="b"/>
              <a:pathLst>
                <a:path w="5638800" h="9525">
                  <a:moveTo>
                    <a:pt x="0" y="0"/>
                  </a:moveTo>
                  <a:lnTo>
                    <a:pt x="56388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85825" y="2714625"/>
              <a:ext cx="95250" cy="9525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88708" y="2681764"/>
              <a:ext cx="3561873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算子实现、数值精度策略、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KV Cache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机制差异，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8708" y="2910364"/>
              <a:ext cx="3063339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引入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CUDA↔Ascend </a:t>
              </a:r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跨端推理结果不一致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85825" y="3305175"/>
              <a:ext cx="95250" cy="9525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88708" y="3272314"/>
              <a:ext cx="2452594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缺乏逐层对齐与自动化定位手段，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8708" y="3462814"/>
              <a:ext cx="2125582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精度问题</a:t>
              </a:r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难以快速发现与归因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60381" y="1857375"/>
            <a:ext cx="4762500" cy="1905000"/>
            <a:chOff x="6858000" y="1857375"/>
            <a:chExt cx="4762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6858000" y="1857375"/>
              <a:ext cx="4762500" cy="1905000"/>
            </a:xfrm>
            <a:prstGeom prst="roundRect">
              <a:avLst>
                <a:gd name="adj" fmla="val 4000"/>
              </a:avLst>
            </a:prstGeom>
            <a:solidFill>
              <a:srgbClr val="FFF5F5"/>
            </a:solidFill>
            <a:ln w="9525">
              <a:solidFill>
                <a:srgbClr val="FCCCCC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107879" y="2087046"/>
              <a:ext cx="224134" cy="192560"/>
              <a:chOff x="7107879" y="2087046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219950" y="21574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107879" y="20870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19950" y="22352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427595" y="2088832"/>
              <a:ext cx="84638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机制缺失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086600" y="241935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9525">
              <a:solidFill>
                <a:srgbClr val="FCCCCC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172325" y="2714625"/>
              <a:ext cx="95250" cy="9525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75208" y="2681764"/>
              <a:ext cx="1962076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版本持续迭代缺少体系化的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75208" y="2910364"/>
              <a:ext cx="1308050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精度回归检测机制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172325" y="3305175"/>
              <a:ext cx="95250" cy="9525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75208" y="3272314"/>
              <a:ext cx="1144544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影响推理结果的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75208" y="3462814"/>
              <a:ext cx="1144544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稳定性与可靠性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73881" y="4031932"/>
            <a:ext cx="11049000" cy="1949768"/>
            <a:chOff x="571500" y="4031932"/>
            <a:chExt cx="11049000" cy="1949768"/>
          </a:xfrm>
        </p:grpSpPr>
        <p:sp>
          <p:nvSpPr>
            <p:cNvPr id="39" name="TextBox 39"/>
            <p:cNvSpPr txBox="1"/>
            <p:nvPr/>
          </p:nvSpPr>
          <p:spPr>
            <a:xfrm>
              <a:off x="741045" y="4031932"/>
              <a:ext cx="467115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改进方向：构建</a:t>
              </a:r>
              <a:r>
                <a:rPr lang="en-US" altLang="zh-CN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"</a:t>
              </a:r>
              <a:r>
                <a:rPr lang="zh-CN" altLang="en-US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复现 </a:t>
              </a:r>
              <a:r>
                <a:rPr lang="en-US" altLang="zh-CN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— </a:t>
              </a:r>
              <a:r>
                <a:rPr lang="zh-CN" altLang="en-US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定界 </a:t>
              </a:r>
              <a:r>
                <a:rPr lang="en-US" altLang="zh-CN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— </a:t>
              </a:r>
              <a:r>
                <a:rPr lang="zh-CN" altLang="en-US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回归</a:t>
              </a:r>
              <a:r>
                <a:rPr lang="en-US" altLang="zh-CN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"</a:t>
              </a:r>
              <a:r>
                <a:rPr lang="zh-CN" altLang="en-US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端到端能力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2000" y="43434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C7000B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71500" y="4552950"/>
              <a:ext cx="3429000" cy="1428750"/>
              <a:chOff x="571500" y="4552950"/>
              <a:chExt cx="3429000" cy="14287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571500" y="4552950"/>
                <a:ext cx="3429000" cy="142875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571500" y="4552950"/>
                <a:ext cx="3429000" cy="47625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723900" y="4743450"/>
                <a:ext cx="304800" cy="3048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33820" y="4823460"/>
                <a:ext cx="8496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123950" y="4791075"/>
                <a:ext cx="38472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50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复现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46760" y="5185410"/>
                <a:ext cx="250549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梳理触发规律，</a:t>
                </a:r>
                <a:r>
                  <a:rPr lang="en-US" altLang="zh-CN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DFX </a:t>
                </a:r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维测日志补齐，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46760" y="5433060"/>
                <a:ext cx="1692771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推理请求关键流程打点，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46760" y="5680710"/>
                <a:ext cx="1384995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沉淀精度问题知识库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4381500" y="4552950"/>
              <a:ext cx="3429000" cy="1428750"/>
              <a:chOff x="4381500" y="4552950"/>
              <a:chExt cx="3429000" cy="14287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381500" y="4552950"/>
                <a:ext cx="3429000" cy="142875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4381500" y="4552950"/>
                <a:ext cx="3429000" cy="47625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4533900" y="4743450"/>
                <a:ext cx="304800" cy="3048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643820" y="4823460"/>
                <a:ext cx="8496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933950" y="4791075"/>
                <a:ext cx="38472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50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定界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556760" y="5185410"/>
                <a:ext cx="263373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有标杆：</a:t>
                </a:r>
                <a:r>
                  <a:rPr lang="en-US" altLang="zh-CN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NPU </a:t>
                </a:r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量化与 </a:t>
                </a:r>
                <a:r>
                  <a:rPr lang="en-US" altLang="zh-CN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GPU </a:t>
                </a:r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逐层比对，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556760" y="5433060"/>
                <a:ext cx="1538883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支撑激活层与权重还原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556760" y="5680710"/>
                <a:ext cx="230832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无标杆：增强日志与异常事件记录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8191500" y="4552950"/>
              <a:ext cx="3429000" cy="1428750"/>
              <a:chOff x="8191500" y="4552950"/>
              <a:chExt cx="3429000" cy="142875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8191500" y="4552950"/>
                <a:ext cx="3429000" cy="142875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8191500" y="4552950"/>
                <a:ext cx="3429000" cy="47625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8343900" y="4743450"/>
                <a:ext cx="304800" cy="3048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8453820" y="4823460"/>
                <a:ext cx="8496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743950" y="4791075"/>
                <a:ext cx="38472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50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回归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366760" y="5185410"/>
                <a:ext cx="1692771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业务场景专项用例建设，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366760" y="5433060"/>
                <a:ext cx="1231106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端到端回归基线，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366760" y="5680710"/>
                <a:ext cx="1692771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防止根因修复后偶发回归</a:t>
                </a:r>
              </a:p>
            </p:txBody>
          </p:sp>
        </p:grp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97264769-437F-D624-0899-DB8845C7D0AE}"/>
              </a:ext>
            </a:extLst>
          </p:cNvPr>
          <p:cNvSpPr/>
          <p:nvPr/>
        </p:nvSpPr>
        <p:spPr>
          <a:xfrm>
            <a:off x="7453420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部门短板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B777749-190C-1957-2C5C-E54EBA272169}"/>
              </a:ext>
            </a:extLst>
          </p:cNvPr>
          <p:cNvSpPr/>
          <p:nvPr/>
        </p:nvSpPr>
        <p:spPr>
          <a:xfrm>
            <a:off x="8594156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选定主题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82BFFAC-275E-9CD0-6F80-FEBFECDD812C}"/>
              </a:ext>
            </a:extLst>
          </p:cNvPr>
          <p:cNvSpPr/>
          <p:nvPr/>
        </p:nvSpPr>
        <p:spPr>
          <a:xfrm>
            <a:off x="9734892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把握现状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2EE1CE5-9B99-1437-277D-A1139774C046}"/>
              </a:ext>
            </a:extLst>
          </p:cNvPr>
          <p:cNvSpPr/>
          <p:nvPr/>
        </p:nvSpPr>
        <p:spPr>
          <a:xfrm>
            <a:off x="10875628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73881" y="399096"/>
            <a:ext cx="9127126" cy="492443"/>
            <a:chOff x="571500" y="399096"/>
            <a:chExt cx="9127126" cy="492443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3810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1046" y="399096"/>
              <a:ext cx="895758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精度短板是部门首要短板与 </a:t>
              </a:r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8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局点</a:t>
              </a:r>
              <a:r>
                <a:rPr lang="zh-CN" altLang="en-US" sz="3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客户声音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的交集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3427" y="1218255"/>
            <a:ext cx="9117881" cy="230832"/>
            <a:chOff x="741045" y="1218255"/>
            <a:chExt cx="9117881" cy="230832"/>
          </a:xfrm>
        </p:grpSpPr>
        <p:sp>
          <p:nvSpPr>
            <p:cNvPr id="8" name="TextBox 8"/>
            <p:cNvSpPr txBox="1"/>
            <p:nvPr/>
          </p:nvSpPr>
          <p:spPr>
            <a:xfrm>
              <a:off x="741045" y="1218255"/>
              <a:ext cx="911788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vLLM-Ascend </a:t>
              </a:r>
              <a:r>
                <a:rPr lang="zh-CN" altLang="en-US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落地中的精度问题正对部门公示短板，且有多局点客户声音佐证</a:t>
              </a:r>
              <a:r>
                <a:rPr lang="en-US" alt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——</a:t>
              </a:r>
              <a:r>
                <a:rPr lang="zh-CN" altLang="en-US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本主题与短板直接一致。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43427" y="1822133"/>
            <a:ext cx="5164455" cy="3171159"/>
            <a:chOff x="741045" y="1822132"/>
            <a:chExt cx="5164455" cy="3171159"/>
          </a:xfrm>
        </p:grpSpPr>
        <p:sp>
          <p:nvSpPr>
            <p:cNvPr id="10" name="TextBox 10"/>
            <p:cNvSpPr txBox="1"/>
            <p:nvPr/>
          </p:nvSpPr>
          <p:spPr>
            <a:xfrm>
              <a:off x="741045" y="1822132"/>
              <a:ext cx="167032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部门短板 </a:t>
              </a:r>
              <a:r>
                <a:rPr lang="en-US" altLang="zh-CN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6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三要点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152650"/>
              <a:ext cx="5143500" cy="28575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38200" y="2360771"/>
              <a:ext cx="3964781" cy="727520"/>
              <a:chOff x="838200" y="2360771"/>
              <a:chExt cx="3964781" cy="72752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838200" y="2400300"/>
                <a:ext cx="304800" cy="3048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48120" y="2489835"/>
                <a:ext cx="8496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9202" y="2360771"/>
                <a:ext cx="1644681" cy="218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2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跨端推理结果不一致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41108" y="2662714"/>
                <a:ext cx="3561873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算子实现、数值精度策略、</a:t>
                </a:r>
                <a:r>
                  <a:rPr lang="en-US" altLang="zh-CN" sz="128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KV Cache </a:t>
                </a:r>
                <a:r>
                  <a:rPr lang="zh-CN" altLang="en-US" sz="128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机制差异，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41108" y="2891314"/>
                <a:ext cx="2736327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引入 </a:t>
                </a:r>
                <a:r>
                  <a:rPr lang="en-US" altLang="zh-CN" sz="128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CUDA↔Ascend </a:t>
                </a:r>
                <a:r>
                  <a:rPr lang="zh-CN" altLang="en-US" sz="128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跨端结果不一致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38200" y="3313271"/>
              <a:ext cx="2776652" cy="727520"/>
              <a:chOff x="838200" y="3313271"/>
              <a:chExt cx="2776652" cy="72752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38200" y="3352800"/>
                <a:ext cx="304800" cy="3048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48120" y="3442335"/>
                <a:ext cx="8496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9202" y="3313271"/>
                <a:ext cx="2375650" cy="218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2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缺逐层对齐与自动化定位手段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41108" y="3615214"/>
                <a:ext cx="2125582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精度问题难快速发现与归因，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41108" y="3843814"/>
                <a:ext cx="1962076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缺标杆场景的逐层比对能力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8200" y="4265771"/>
              <a:ext cx="2528490" cy="727520"/>
              <a:chOff x="838200" y="4265771"/>
              <a:chExt cx="2528490" cy="72752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838200" y="4305300"/>
                <a:ext cx="304800" cy="3048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48120" y="4394835"/>
                <a:ext cx="8496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9202" y="4265771"/>
                <a:ext cx="1827423" cy="218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2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缺体系化回归检测机制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241108" y="4567714"/>
                <a:ext cx="1798569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版本迭代缺少精度回归，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241108" y="4796314"/>
                <a:ext cx="2125582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影响推理结果稳定性与可靠性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288881" y="2000250"/>
            <a:ext cx="5143500" cy="3810000"/>
            <a:chOff x="6286500" y="2000250"/>
            <a:chExt cx="5143500" cy="3810000"/>
          </a:xfrm>
        </p:grpSpPr>
        <p:sp>
          <p:nvSpPr>
            <p:cNvPr id="31" name="Rectangle 31"/>
            <p:cNvSpPr/>
            <p:nvPr/>
          </p:nvSpPr>
          <p:spPr>
            <a:xfrm>
              <a:off x="6286500" y="2000250"/>
              <a:ext cx="5143500" cy="3810000"/>
            </a:xfrm>
            <a:prstGeom prst="roundRect">
              <a:avLst>
                <a:gd name="adj" fmla="val 2000"/>
              </a:avLst>
            </a:prstGeom>
            <a:solidFill>
              <a:srgbClr val="F5F5F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548438" y="2235200"/>
              <a:ext cx="200026" cy="188913"/>
              <a:chOff x="6548438" y="2235200"/>
              <a:chExt cx="200026" cy="18891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04000" y="229076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04000" y="23352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48438" y="2235200"/>
                <a:ext cx="200026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88913">
                    <a:moveTo>
                      <a:pt x="166688" y="0"/>
                    </a:move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122238"/>
                    </a:lnTo>
                    <a:cubicBezTo>
                      <a:pt x="200026" y="140650"/>
                      <a:pt x="185100" y="155575"/>
                      <a:pt x="166688" y="155575"/>
                    </a:cubicBezTo>
                    <a:lnTo>
                      <a:pt x="111125" y="155575"/>
                    </a:lnTo>
                    <a:lnTo>
                      <a:pt x="55563" y="188913"/>
                    </a:lnTo>
                    <a:lnTo>
                      <a:pt x="55563" y="155575"/>
                    </a:lnTo>
                    <a:lnTo>
                      <a:pt x="33338" y="155575"/>
                    </a:lnTo>
                    <a:cubicBezTo>
                      <a:pt x="14926" y="155575"/>
                      <a:pt x="0" y="140650"/>
                      <a:pt x="0" y="122238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856095" y="2222182"/>
              <a:ext cx="186910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客户声音（</a:t>
              </a:r>
              <a:r>
                <a:rPr lang="en-US" altLang="zh-CN" sz="16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8 </a:t>
              </a:r>
              <a:r>
                <a:rPr lang="zh-CN" altLang="en-US" sz="16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局点）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515100" y="25717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8908" y="2757964"/>
              <a:ext cx="2481449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美的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GLM5.1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）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乱码、答非所问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98908" y="3024664"/>
              <a:ext cx="2808461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南方电网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GLM5.1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）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重计算后必乱码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98908" y="3291364"/>
              <a:ext cx="2944717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天翼云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GLM5/5.1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）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英文问题中英混杂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98908" y="3558064"/>
              <a:ext cx="2792752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中信银行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DSv4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）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· DSML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泄漏、乱码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98908" y="3824764"/>
              <a:ext cx="2800447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蚂蚁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GLM5.1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）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长序列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/tool call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乱码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98908" y="4091464"/>
              <a:ext cx="2181687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平安银行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GLM5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）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重复输出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98908" y="4358164"/>
              <a:ext cx="3084434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华为流程</a:t>
              </a:r>
              <a:r>
                <a:rPr lang="en-US" altLang="zh-CN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IT/</a:t>
              </a:r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财经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GLM5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）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· PD+MTP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乱码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98908" y="4624864"/>
              <a:ext cx="2999219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智谱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GLM5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）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无精度问题（对照基准）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515100" y="49911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00812" y="5136356"/>
              <a:ext cx="3582712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0" dirty="0">
                  <a:solidFill>
                    <a:srgbClr val="8C8C8C"/>
                  </a:solidFill>
                  <a:latin typeface="Arial"/>
                  <a:ea typeface="Microsoft YaHei"/>
                  <a:cs typeface="Arial"/>
                </a:rPr>
                <a:t>数据来源：多局点偶发乱码攻关日报（</a:t>
              </a:r>
              <a:r>
                <a:rPr lang="en-US" altLang="zh-CN" sz="1120" dirty="0">
                  <a:solidFill>
                    <a:srgbClr val="8C8C8C"/>
                  </a:solidFill>
                  <a:latin typeface="Arial"/>
                  <a:ea typeface="Microsoft YaHei"/>
                  <a:cs typeface="Arial"/>
                </a:rPr>
                <a:t>8 </a:t>
              </a:r>
              <a:r>
                <a:rPr lang="zh-CN" altLang="en-US" sz="1120" dirty="0">
                  <a:solidFill>
                    <a:srgbClr val="8C8C8C"/>
                  </a:solidFill>
                  <a:latin typeface="Arial"/>
                  <a:ea typeface="Microsoft YaHei"/>
                  <a:cs typeface="Arial"/>
                </a:rPr>
                <a:t>局点现网记录）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00812" y="5384006"/>
              <a:ext cx="2447786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0" dirty="0">
                  <a:solidFill>
                    <a:srgbClr val="8C8C8C"/>
                  </a:solidFill>
                  <a:latin typeface="Arial"/>
                  <a:ea typeface="Microsoft YaHei"/>
                  <a:cs typeface="Arial"/>
                </a:rPr>
                <a:t>样本量：</a:t>
              </a:r>
              <a:r>
                <a:rPr lang="en-US" altLang="zh-CN" sz="1120" dirty="0">
                  <a:solidFill>
                    <a:srgbClr val="8C8C8C"/>
                  </a:solidFill>
                  <a:latin typeface="Arial"/>
                  <a:ea typeface="Microsoft YaHei"/>
                  <a:cs typeface="Arial"/>
                </a:rPr>
                <a:t>8 </a:t>
              </a:r>
              <a:r>
                <a:rPr lang="zh-CN" altLang="en-US" sz="1120" dirty="0">
                  <a:solidFill>
                    <a:srgbClr val="8C8C8C"/>
                  </a:solidFill>
                  <a:latin typeface="Arial"/>
                  <a:ea typeface="Microsoft YaHei"/>
                  <a:cs typeface="Arial"/>
                </a:rPr>
                <a:t>局点 ，覆盖多模型</a:t>
              </a:r>
              <a:r>
                <a:rPr lang="en-US" altLang="zh-CN" sz="1120" dirty="0">
                  <a:solidFill>
                    <a:srgbClr val="8C8C8C"/>
                  </a:solidFill>
                  <a:latin typeface="Arial"/>
                  <a:ea typeface="Microsoft YaHei"/>
                  <a:cs typeface="Arial"/>
                </a:rPr>
                <a:t>/</a:t>
              </a:r>
              <a:r>
                <a:rPr lang="zh-CN" altLang="en-US" sz="1120" dirty="0">
                  <a:solidFill>
                    <a:srgbClr val="8C8C8C"/>
                  </a:solidFill>
                  <a:latin typeface="Arial"/>
                  <a:ea typeface="Microsoft YaHei"/>
                  <a:cs typeface="Arial"/>
                </a:rPr>
                <a:t>多形态</a:t>
              </a:r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4959EE0C-F215-A894-AD84-601ED326217A}"/>
              </a:ext>
            </a:extLst>
          </p:cNvPr>
          <p:cNvSpPr/>
          <p:nvPr/>
        </p:nvSpPr>
        <p:spPr>
          <a:xfrm>
            <a:off x="7453420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部门短板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4E27DA6-C71A-9F0B-813E-6D3E9DC55442}"/>
              </a:ext>
            </a:extLst>
          </p:cNvPr>
          <p:cNvSpPr/>
          <p:nvPr/>
        </p:nvSpPr>
        <p:spPr>
          <a:xfrm>
            <a:off x="8594156" y="49189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选定主题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CF88330-69C2-380F-52A8-0CC09D67D795}"/>
              </a:ext>
            </a:extLst>
          </p:cNvPr>
          <p:cNvSpPr/>
          <p:nvPr/>
        </p:nvSpPr>
        <p:spPr>
          <a:xfrm>
            <a:off x="9734892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把握现状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06A329D-65B6-8CF8-7E98-626854D4CDAF}"/>
              </a:ext>
            </a:extLst>
          </p:cNvPr>
          <p:cNvSpPr/>
          <p:nvPr/>
        </p:nvSpPr>
        <p:spPr>
          <a:xfrm>
            <a:off x="10875628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73881" y="373254"/>
            <a:ext cx="10741160" cy="484748"/>
            <a:chOff x="571500" y="373254"/>
            <a:chExt cx="10741160" cy="484748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3810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20017" y="373254"/>
              <a:ext cx="10592643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围绕 </a:t>
              </a:r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vLLM-Ascend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全流程发散，亲和图归为 </a:t>
              </a:r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6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个候选方向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6952" y="1228937"/>
            <a:ext cx="7202293" cy="230832"/>
            <a:chOff x="754570" y="1228937"/>
            <a:chExt cx="7202293" cy="230832"/>
          </a:xfrm>
        </p:grpSpPr>
        <p:sp>
          <p:nvSpPr>
            <p:cNvPr id="8" name="TextBox 8"/>
            <p:cNvSpPr txBox="1"/>
            <p:nvPr/>
          </p:nvSpPr>
          <p:spPr>
            <a:xfrm>
              <a:off x="754570" y="1228937"/>
              <a:ext cx="72022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用头脑风暴发散全流程问题点，亲和图（</a:t>
              </a:r>
              <a:r>
                <a:rPr lang="en-US" alt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KJ </a:t>
              </a:r>
              <a:r>
                <a:rPr lang="zh-CN" altLang="en-US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法）归类收敛，产出多维正交候选主题。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3881" y="1743076"/>
            <a:ext cx="5334000" cy="4371975"/>
            <a:chOff x="571500" y="1743075"/>
            <a:chExt cx="5334000" cy="4371975"/>
          </a:xfrm>
        </p:grpSpPr>
        <p:sp>
          <p:nvSpPr>
            <p:cNvPr id="10" name="TextBox 10"/>
            <p:cNvSpPr txBox="1"/>
            <p:nvPr/>
          </p:nvSpPr>
          <p:spPr>
            <a:xfrm>
              <a:off x="742950" y="1743075"/>
              <a:ext cx="33005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① 头脑风暴 </a:t>
              </a:r>
              <a:r>
                <a:rPr lang="en-US" altLang="zh-CN" sz="15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5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发散（围绕推理全流程）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2019300"/>
              <a:ext cx="5334000" cy="4095750"/>
            </a:xfrm>
            <a:prstGeom prst="roundRect">
              <a:avLst>
                <a:gd name="adj" fmla="val 1860"/>
              </a:avLst>
            </a:prstGeom>
            <a:solidFill>
              <a:srgbClr val="F5F5F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62000" y="2209800"/>
              <a:ext cx="4953000" cy="3600450"/>
              <a:chOff x="762000" y="2209800"/>
              <a:chExt cx="4953000" cy="36004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2209800"/>
                <a:ext cx="15240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18065" y="2306002"/>
                <a:ext cx="1211870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跨端推理结果不一致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2381250" y="2286000"/>
                <a:ext cx="14287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624342" y="2382202"/>
                <a:ext cx="942566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多局点偶发乱码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905250" y="2209800"/>
                <a:ext cx="18097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027057" y="2306002"/>
                <a:ext cx="1566134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量化 </a:t>
                </a:r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w8a8/w4a8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精度损失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762000" y="2743200"/>
                <a:ext cx="16192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61869" y="2839402"/>
                <a:ext cx="1019510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decode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吞吐偏低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476500" y="2819400"/>
                <a:ext cx="15240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744774" y="2915602"/>
                <a:ext cx="987450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MoE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负载不均衡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4095750" y="2743200"/>
                <a:ext cx="16192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366766" y="2839402"/>
                <a:ext cx="1077218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投机解码命中率低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762000" y="3276600"/>
                <a:ext cx="16192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47443" y="3372802"/>
                <a:ext cx="1048364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KV Cache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占用高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2476500" y="3352800"/>
                <a:ext cx="15240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753591" y="3449002"/>
                <a:ext cx="969817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内存碎片 </a:t>
                </a:r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/ OOM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095750" y="3276600"/>
                <a:ext cx="16192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366766" y="3372802"/>
                <a:ext cx="1077218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长序列显存压力大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62000" y="3810000"/>
                <a:ext cx="16192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55458" y="3906202"/>
                <a:ext cx="1032334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PD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分离调度复杂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2476500" y="3886200"/>
                <a:ext cx="15240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756797" y="3982402"/>
                <a:ext cx="963405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EP/TP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并行配置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095750" y="3810000"/>
                <a:ext cx="16192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501419" y="3906202"/>
                <a:ext cx="80791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并发调度抖动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62000" y="4343400"/>
                <a:ext cx="16192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998550" y="4439602"/>
                <a:ext cx="1146148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Mooncake KV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传输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2476500" y="4419600"/>
                <a:ext cx="15240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2730348" y="4515802"/>
                <a:ext cx="1016304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PD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间 </a:t>
                </a:r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KV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不可靠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4095750" y="4343400"/>
                <a:ext cx="16192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501419" y="4439602"/>
                <a:ext cx="80791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通信超时释放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62000" y="4876800"/>
                <a:ext cx="16192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167669" y="4973002"/>
                <a:ext cx="80791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维测日志不全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2476500" y="4953000"/>
                <a:ext cx="15240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2695883" y="5049202"/>
                <a:ext cx="108523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缺 </a:t>
                </a:r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dump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比对工具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4095750" y="4876800"/>
                <a:ext cx="16192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447717" y="4973002"/>
                <a:ext cx="915314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profiling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能力弱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1905000" y="5486400"/>
                <a:ext cx="22860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2386761" y="5582602"/>
                <a:ext cx="1322477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长稳异常 </a:t>
                </a:r>
                <a:r>
                  <a:rPr lang="en-US" alt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/ </a:t>
                </a:r>
                <a:r>
                  <a:rPr lang="zh-CN" altLang="en-US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超时恢复慢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971952" y="3487102"/>
            <a:ext cx="538609" cy="437198"/>
            <a:chOff x="5969570" y="3487102"/>
            <a:chExt cx="538609" cy="437198"/>
          </a:xfrm>
        </p:grpSpPr>
        <p:sp>
          <p:nvSpPr>
            <p:cNvPr id="52" name="Polygon 52"/>
            <p:cNvSpPr/>
            <p:nvPr/>
          </p:nvSpPr>
          <p:spPr>
            <a:xfrm>
              <a:off x="6096000" y="36957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0" y="114300"/>
                  </a:moveTo>
                  <a:lnTo>
                    <a:pt x="285750" y="0"/>
                  </a:lnTo>
                  <a:lnTo>
                    <a:pt x="285750" y="228600"/>
                  </a:lnTo>
                  <a:close/>
                </a:path>
              </a:pathLst>
            </a:custGeom>
            <a:solidFill>
              <a:srgbClr val="C7000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69570" y="3487102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0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亲和归类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6555581" y="1743076"/>
            <a:ext cx="4876800" cy="3933825"/>
            <a:chOff x="6553200" y="1743075"/>
            <a:chExt cx="4876800" cy="3933825"/>
          </a:xfrm>
        </p:grpSpPr>
        <p:sp>
          <p:nvSpPr>
            <p:cNvPr id="55" name="TextBox 55"/>
            <p:cNvSpPr txBox="1"/>
            <p:nvPr/>
          </p:nvSpPr>
          <p:spPr>
            <a:xfrm>
              <a:off x="6553200" y="1743075"/>
              <a:ext cx="27443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② 亲和图 </a:t>
              </a:r>
              <a:r>
                <a:rPr lang="en-US" altLang="zh-CN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收敛为 </a:t>
              </a:r>
              <a:r>
                <a:rPr lang="en-US" altLang="zh-CN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6 </a:t>
              </a:r>
              <a:r>
                <a:rPr lang="zh-CN" altLang="en-US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个候选方向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572250" y="2076450"/>
              <a:ext cx="2381250" cy="876300"/>
              <a:chOff x="6572250" y="2076450"/>
              <a:chExt cx="2381250" cy="8763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572250" y="2076450"/>
                <a:ext cx="2381250" cy="876300"/>
              </a:xfrm>
              <a:prstGeom prst="roundRect">
                <a:avLst>
                  <a:gd name="adj" fmla="val 6522"/>
                </a:avLst>
              </a:prstGeom>
              <a:solidFill>
                <a:srgbClr val="FFF5F5"/>
              </a:solidFill>
              <a:ln w="19050">
                <a:solidFill>
                  <a:srgbClr val="C7000B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572250" y="2076450"/>
                <a:ext cx="57150" cy="876300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6772275" y="2238375"/>
                <a:ext cx="171450" cy="171450"/>
                <a:chOff x="6772275" y="2238375"/>
                <a:chExt cx="171450" cy="171450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6848475" y="23145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6810375" y="22764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6772275" y="22383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7032308" y="2243614"/>
                <a:ext cx="1189428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b="1" dirty="0">
                    <a:solidFill>
                      <a:srgbClr val="C7000B"/>
                    </a:solidFill>
                    <a:latin typeface="Arial"/>
                    <a:ea typeface="Microsoft YaHei"/>
                    <a:cs typeface="Arial"/>
                  </a:rPr>
                  <a:t>候选① 推理精度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730365" y="2534602"/>
                <a:ext cx="1718419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跨端不一致 </a:t>
                </a:r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·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乱码 </a:t>
                </a:r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·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量化损失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730365" y="2725102"/>
                <a:ext cx="1077218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缺逐层对齐与定位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9048750" y="2076450"/>
              <a:ext cx="2381250" cy="876300"/>
              <a:chOff x="9048750" y="2076450"/>
              <a:chExt cx="2381250" cy="8763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9048750" y="2076450"/>
                <a:ext cx="2381250" cy="8763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9048750" y="2076450"/>
                <a:ext cx="57150" cy="8763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9248775" y="2276475"/>
                <a:ext cx="171450" cy="95250"/>
                <a:chOff x="9248775" y="2276475"/>
                <a:chExt cx="171450" cy="95250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9248775" y="2276475"/>
                  <a:ext cx="1714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0">
                      <a:moveTo>
                        <a:pt x="0" y="95250"/>
                      </a:moveTo>
                      <a:lnTo>
                        <a:pt x="57150" y="38100"/>
                      </a:lnTo>
                      <a:lnTo>
                        <a:pt x="95250" y="76200"/>
                      </a:ln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9353550" y="2276475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0"/>
                      </a:moveTo>
                      <a:lnTo>
                        <a:pt x="66675" y="0"/>
                      </a:lnTo>
                      <a:lnTo>
                        <a:pt x="66675" y="66675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9508808" y="2243614"/>
                <a:ext cx="1189428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候选② 吞吐性能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206865" y="2534602"/>
                <a:ext cx="1452321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decode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吞吐 </a:t>
                </a:r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· MoE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负载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206865" y="2725102"/>
                <a:ext cx="942566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投机解码命中率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6572250" y="3067050"/>
              <a:ext cx="2381250" cy="876300"/>
              <a:chOff x="6572250" y="3067050"/>
              <a:chExt cx="2381250" cy="87630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6572250" y="3067050"/>
                <a:ext cx="2381250" cy="8763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6572250" y="3067050"/>
                <a:ext cx="57150" cy="8763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grpSp>
            <p:nvGrpSpPr>
              <p:cNvPr id="81" name="Group 81"/>
              <p:cNvGrpSpPr/>
              <p:nvPr/>
            </p:nvGrpSpPr>
            <p:grpSpPr>
              <a:xfrm>
                <a:off x="6772275" y="3238500"/>
                <a:ext cx="171450" cy="152400"/>
                <a:chOff x="6772275" y="3238500"/>
                <a:chExt cx="171450" cy="152400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6772275" y="3238500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6772275" y="3314700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6810375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80" name="Freeform 80"/>
                <p:cNvSpPr/>
                <p:nvPr/>
              </p:nvSpPr>
              <p:spPr>
                <a:xfrm>
                  <a:off x="6810375" y="3352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7032308" y="3234214"/>
                <a:ext cx="1234312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候选③ 显存</a:t>
                </a:r>
                <a:r>
                  <a:rPr lang="en-US" altLang="zh-CN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/</a:t>
                </a:r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内存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6730365" y="3525202"/>
                <a:ext cx="1142942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KV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占用 </a:t>
                </a:r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·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内存碎片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730365" y="3715702"/>
                <a:ext cx="942566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长序列显存压力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9048750" y="3067050"/>
              <a:ext cx="2381250" cy="876300"/>
              <a:chOff x="9048750" y="3067050"/>
              <a:chExt cx="2381250" cy="8763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9048750" y="3067050"/>
                <a:ext cx="2381250" cy="8763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87" name="Rectangle 87"/>
              <p:cNvSpPr/>
              <p:nvPr/>
            </p:nvSpPr>
            <p:spPr>
              <a:xfrm>
                <a:off x="9048750" y="3067050"/>
                <a:ext cx="57150" cy="8763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grpSp>
            <p:nvGrpSpPr>
              <p:cNvPr id="90" name="Group 90"/>
              <p:cNvGrpSpPr/>
              <p:nvPr/>
            </p:nvGrpSpPr>
            <p:grpSpPr>
              <a:xfrm>
                <a:off x="9244594" y="3224794"/>
                <a:ext cx="179813" cy="179813"/>
                <a:chOff x="9244594" y="3224794"/>
                <a:chExt cx="179813" cy="179813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9244594" y="3224794"/>
                  <a:ext cx="179813" cy="17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813" h="179813">
                      <a:moveTo>
                        <a:pt x="73952" y="16726"/>
                      </a:moveTo>
                      <a:cubicBezTo>
                        <a:pt x="78010" y="0"/>
                        <a:pt x="101803" y="0"/>
                        <a:pt x="105861" y="16726"/>
                      </a:cubicBezTo>
                      <a:cubicBezTo>
                        <a:pt x="107096" y="21822"/>
                        <a:pt x="110690" y="26023"/>
                        <a:pt x="115535" y="28030"/>
                      </a:cubicBezTo>
                      <a:cubicBezTo>
                        <a:pt x="120380" y="30037"/>
                        <a:pt x="125891" y="29609"/>
                        <a:pt x="130369" y="26880"/>
                      </a:cubicBezTo>
                      <a:cubicBezTo>
                        <a:pt x="145066" y="17926"/>
                        <a:pt x="161896" y="34747"/>
                        <a:pt x="152943" y="49454"/>
                      </a:cubicBezTo>
                      <a:cubicBezTo>
                        <a:pt x="150217" y="53929"/>
                        <a:pt x="149791" y="59437"/>
                        <a:pt x="151795" y="64278"/>
                      </a:cubicBezTo>
                      <a:cubicBezTo>
                        <a:pt x="153800" y="69120"/>
                        <a:pt x="157995" y="72714"/>
                        <a:pt x="163087" y="73952"/>
                      </a:cubicBezTo>
                      <a:cubicBezTo>
                        <a:pt x="179813" y="78010"/>
                        <a:pt x="179813" y="101803"/>
                        <a:pt x="163087" y="105861"/>
                      </a:cubicBezTo>
                      <a:cubicBezTo>
                        <a:pt x="157991" y="107096"/>
                        <a:pt x="153790" y="110690"/>
                        <a:pt x="151783" y="115535"/>
                      </a:cubicBezTo>
                      <a:cubicBezTo>
                        <a:pt x="149776" y="120380"/>
                        <a:pt x="150204" y="125891"/>
                        <a:pt x="152933" y="130369"/>
                      </a:cubicBezTo>
                      <a:cubicBezTo>
                        <a:pt x="161887" y="145066"/>
                        <a:pt x="145066" y="161896"/>
                        <a:pt x="130359" y="152943"/>
                      </a:cubicBezTo>
                      <a:cubicBezTo>
                        <a:pt x="125884" y="150217"/>
                        <a:pt x="120376" y="149791"/>
                        <a:pt x="115535" y="151795"/>
                      </a:cubicBezTo>
                      <a:cubicBezTo>
                        <a:pt x="110693" y="153800"/>
                        <a:pt x="107099" y="157995"/>
                        <a:pt x="105861" y="163087"/>
                      </a:cubicBezTo>
                      <a:cubicBezTo>
                        <a:pt x="101803" y="179813"/>
                        <a:pt x="78010" y="179813"/>
                        <a:pt x="73952" y="163087"/>
                      </a:cubicBezTo>
                      <a:cubicBezTo>
                        <a:pt x="72717" y="157991"/>
                        <a:pt x="69123" y="153790"/>
                        <a:pt x="64278" y="151783"/>
                      </a:cubicBezTo>
                      <a:cubicBezTo>
                        <a:pt x="59433" y="149776"/>
                        <a:pt x="53922" y="150204"/>
                        <a:pt x="49444" y="152933"/>
                      </a:cubicBezTo>
                      <a:cubicBezTo>
                        <a:pt x="34747" y="161887"/>
                        <a:pt x="17917" y="145066"/>
                        <a:pt x="26870" y="130359"/>
                      </a:cubicBezTo>
                      <a:cubicBezTo>
                        <a:pt x="29596" y="125884"/>
                        <a:pt x="30022" y="120376"/>
                        <a:pt x="28018" y="115535"/>
                      </a:cubicBezTo>
                      <a:cubicBezTo>
                        <a:pt x="26013" y="110693"/>
                        <a:pt x="21818" y="107099"/>
                        <a:pt x="16726" y="105861"/>
                      </a:cubicBezTo>
                      <a:cubicBezTo>
                        <a:pt x="0" y="101803"/>
                        <a:pt x="0" y="78010"/>
                        <a:pt x="16726" y="73952"/>
                      </a:cubicBezTo>
                      <a:cubicBezTo>
                        <a:pt x="21822" y="72717"/>
                        <a:pt x="26023" y="69123"/>
                        <a:pt x="28030" y="64278"/>
                      </a:cubicBezTo>
                      <a:cubicBezTo>
                        <a:pt x="30037" y="59433"/>
                        <a:pt x="29609" y="53922"/>
                        <a:pt x="26880" y="49444"/>
                      </a:cubicBezTo>
                      <a:cubicBezTo>
                        <a:pt x="17926" y="34747"/>
                        <a:pt x="34747" y="17917"/>
                        <a:pt x="49454" y="26870"/>
                      </a:cubicBezTo>
                      <a:cubicBezTo>
                        <a:pt x="58979" y="32661"/>
                        <a:pt x="71323" y="27537"/>
                        <a:pt x="73952" y="16726"/>
                      </a:cubicBez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89" name="Freeform 89"/>
                <p:cNvSpPr/>
                <p:nvPr/>
              </p:nvSpPr>
              <p:spPr>
                <a:xfrm>
                  <a:off x="9305925" y="32861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91" name="TextBox 91"/>
              <p:cNvSpPr txBox="1"/>
              <p:nvPr/>
            </p:nvSpPr>
            <p:spPr>
              <a:xfrm>
                <a:off x="9508808" y="3234214"/>
                <a:ext cx="1234312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候选④ 调度</a:t>
                </a:r>
                <a:r>
                  <a:rPr lang="en-US" altLang="zh-CN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/</a:t>
                </a:r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部署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9206865" y="3525202"/>
                <a:ext cx="1306448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PD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分离 </a:t>
                </a:r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· EP/TP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并行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9206865" y="3715702"/>
                <a:ext cx="80791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并发调度抖动</a:t>
                </a: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6572250" y="4057650"/>
              <a:ext cx="2381250" cy="876300"/>
              <a:chOff x="6572250" y="4057650"/>
              <a:chExt cx="2381250" cy="876300"/>
            </a:xfrm>
          </p:grpSpPr>
          <p:sp>
            <p:nvSpPr>
              <p:cNvPr id="95" name="Rectangle 95"/>
              <p:cNvSpPr/>
              <p:nvPr/>
            </p:nvSpPr>
            <p:spPr>
              <a:xfrm>
                <a:off x="6572250" y="4057650"/>
                <a:ext cx="2381250" cy="8763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96" name="Rectangle 96"/>
              <p:cNvSpPr/>
              <p:nvPr/>
            </p:nvSpPr>
            <p:spPr>
              <a:xfrm>
                <a:off x="6572250" y="4057650"/>
                <a:ext cx="57150" cy="8763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grpSp>
            <p:nvGrpSpPr>
              <p:cNvPr id="101" name="Group 101"/>
              <p:cNvGrpSpPr/>
              <p:nvPr/>
            </p:nvGrpSpPr>
            <p:grpSpPr>
              <a:xfrm>
                <a:off x="6772275" y="4219575"/>
                <a:ext cx="171450" cy="171450"/>
                <a:chOff x="6772275" y="4219575"/>
                <a:chExt cx="171450" cy="171450"/>
              </a:xfrm>
            </p:grpSpPr>
            <p:sp>
              <p:nvSpPr>
                <p:cNvPr id="97" name="Freeform 97"/>
                <p:cNvSpPr/>
                <p:nvPr/>
              </p:nvSpPr>
              <p:spPr>
                <a:xfrm>
                  <a:off x="6772275" y="42767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57150" y="28575"/>
                      </a:lnTo>
                      <a:lnTo>
                        <a:pt x="28575" y="0"/>
                      </a:ln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6886575" y="42767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57150" y="28575"/>
                      </a:lnTo>
                      <a:lnTo>
                        <a:pt x="28575" y="0"/>
                      </a:ln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99" name="Freeform 99"/>
                <p:cNvSpPr/>
                <p:nvPr/>
              </p:nvSpPr>
              <p:spPr>
                <a:xfrm>
                  <a:off x="6829425" y="42195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57150" y="28575"/>
                      </a:lnTo>
                      <a:lnTo>
                        <a:pt x="28575" y="0"/>
                      </a:ln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100" name="Freeform 100"/>
                <p:cNvSpPr/>
                <p:nvPr/>
              </p:nvSpPr>
              <p:spPr>
                <a:xfrm>
                  <a:off x="6829425" y="43338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57150" y="28575"/>
                      </a:lnTo>
                      <a:lnTo>
                        <a:pt x="28575" y="0"/>
                      </a:ln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102" name="TextBox 102"/>
              <p:cNvSpPr txBox="1"/>
              <p:nvPr/>
            </p:nvSpPr>
            <p:spPr>
              <a:xfrm>
                <a:off x="7032308" y="4224814"/>
                <a:ext cx="1506823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候选⑤ </a:t>
                </a:r>
                <a:r>
                  <a:rPr lang="en-US" altLang="zh-CN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KV </a:t>
                </a:r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传输</a:t>
                </a:r>
                <a:r>
                  <a:rPr lang="en-US" altLang="zh-CN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/</a:t>
                </a:r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通信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6730365" y="4515802"/>
                <a:ext cx="1317668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Mooncake · PD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间 </a:t>
                </a:r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KV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6730365" y="4706302"/>
                <a:ext cx="807913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通信超时释放</a:t>
                </a: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9048750" y="4057650"/>
              <a:ext cx="2381250" cy="876300"/>
              <a:chOff x="9048750" y="4057650"/>
              <a:chExt cx="2381250" cy="876300"/>
            </a:xfrm>
          </p:grpSpPr>
          <p:sp>
            <p:nvSpPr>
              <p:cNvPr id="106" name="Rectangle 106"/>
              <p:cNvSpPr/>
              <p:nvPr/>
            </p:nvSpPr>
            <p:spPr>
              <a:xfrm>
                <a:off x="9048750" y="4057650"/>
                <a:ext cx="2381250" cy="8763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107" name="Rectangle 107"/>
              <p:cNvSpPr/>
              <p:nvPr/>
            </p:nvSpPr>
            <p:spPr>
              <a:xfrm>
                <a:off x="9048750" y="4057650"/>
                <a:ext cx="57150" cy="8763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9243100" y="4213900"/>
                <a:ext cx="180253" cy="180253"/>
              </a:xfrm>
              <a:custGeom>
                <a:avLst/>
                <a:gdLst/>
                <a:ahLst/>
                <a:cxnLst/>
                <a:rect l="l" t="t" r="r" b="b"/>
                <a:pathLst>
                  <a:path w="180253" h="180253">
                    <a:moveTo>
                      <a:pt x="43775" y="72350"/>
                    </a:moveTo>
                    <a:lnTo>
                      <a:pt x="72350" y="72350"/>
                    </a:lnTo>
                    <a:lnTo>
                      <a:pt x="72350" y="43775"/>
                    </a:lnTo>
                    <a:lnTo>
                      <a:pt x="39013" y="10438"/>
                    </a:lnTo>
                    <a:cubicBezTo>
                      <a:pt x="60867" y="0"/>
                      <a:pt x="86928" y="4471"/>
                      <a:pt x="104053" y="21597"/>
                    </a:cubicBezTo>
                    <a:cubicBezTo>
                      <a:pt x="121179" y="38722"/>
                      <a:pt x="125650" y="64783"/>
                      <a:pt x="115213" y="86638"/>
                    </a:cubicBezTo>
                    <a:lnTo>
                      <a:pt x="172363" y="143788"/>
                    </a:lnTo>
                    <a:cubicBezTo>
                      <a:pt x="180253" y="151678"/>
                      <a:pt x="180253" y="164472"/>
                      <a:pt x="172363" y="172363"/>
                    </a:cubicBezTo>
                    <a:cubicBezTo>
                      <a:pt x="164472" y="180253"/>
                      <a:pt x="151678" y="180253"/>
                      <a:pt x="143788" y="172363"/>
                    </a:cubicBezTo>
                    <a:lnTo>
                      <a:pt x="86638" y="115213"/>
                    </a:lnTo>
                    <a:cubicBezTo>
                      <a:pt x="64783" y="125650"/>
                      <a:pt x="38722" y="121179"/>
                      <a:pt x="21597" y="104053"/>
                    </a:cubicBezTo>
                    <a:cubicBezTo>
                      <a:pt x="4471" y="86928"/>
                      <a:pt x="0" y="60867"/>
                      <a:pt x="10438" y="39013"/>
                    </a:cubicBezTo>
                    <a:lnTo>
                      <a:pt x="43775" y="723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9508808" y="4224814"/>
                <a:ext cx="1561325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候选⑥ 工具链</a:t>
                </a:r>
                <a:r>
                  <a:rPr lang="en-US" altLang="zh-CN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/</a:t>
                </a:r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可观测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9206865" y="4515802"/>
                <a:ext cx="1301638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维测日志 </a:t>
                </a:r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· dump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比对</a:t>
                </a: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9206865" y="4706302"/>
                <a:ext cx="1131720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profiling · </a:t>
                </a:r>
                <a:r>
                  <a:rPr lang="zh-CN" altLang="en-US" sz="105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长稳监控</a:t>
                </a:r>
              </a:p>
            </p:txBody>
          </p:sp>
        </p:grpSp>
        <p:sp>
          <p:nvSpPr>
            <p:cNvPr id="113" name="Rectangle 113"/>
            <p:cNvSpPr/>
            <p:nvPr/>
          </p:nvSpPr>
          <p:spPr>
            <a:xfrm>
              <a:off x="6572250" y="5143500"/>
              <a:ext cx="4857750" cy="533400"/>
            </a:xfrm>
            <a:prstGeom prst="roundRect">
              <a:avLst>
                <a:gd name="adj" fmla="val 10714"/>
              </a:avLst>
            </a:prstGeom>
            <a:solidFill>
              <a:srgbClr val="FFF5F5"/>
            </a:solidFill>
            <a:ln w="14288">
              <a:solidFill>
                <a:srgbClr val="C7000B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6747510" y="5261610"/>
              <a:ext cx="21287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6 </a:t>
              </a:r>
              <a:r>
                <a:rPr lang="zh-CN" altLang="en-US" sz="12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个方向相互正交、覆盖全流程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748462" y="5479256"/>
              <a:ext cx="4047583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→ 进入因果矩阵量化打分（</a:t>
              </a:r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P05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），从多维候选中选定改进主题</a:t>
              </a:r>
            </a:p>
          </p:txBody>
        </p:sp>
      </p:grpSp>
      <p:sp>
        <p:nvSpPr>
          <p:cNvPr id="121" name="矩形 120">
            <a:extLst>
              <a:ext uri="{FF2B5EF4-FFF2-40B4-BE49-F238E27FC236}">
                <a16:creationId xmlns:a16="http://schemas.microsoft.com/office/drawing/2014/main" id="{2E9ADDC0-E142-FC4A-B9C0-C606C6650434}"/>
              </a:ext>
            </a:extLst>
          </p:cNvPr>
          <p:cNvSpPr/>
          <p:nvPr/>
        </p:nvSpPr>
        <p:spPr>
          <a:xfrm>
            <a:off x="7453420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部门短板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F3C658B8-E6AD-E38B-FB00-DAAD10E34398}"/>
              </a:ext>
            </a:extLst>
          </p:cNvPr>
          <p:cNvSpPr/>
          <p:nvPr/>
        </p:nvSpPr>
        <p:spPr>
          <a:xfrm>
            <a:off x="8594156" y="49189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选定主题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E2E834C-0599-3140-4F44-2B26994458A2}"/>
              </a:ext>
            </a:extLst>
          </p:cNvPr>
          <p:cNvSpPr/>
          <p:nvPr/>
        </p:nvSpPr>
        <p:spPr>
          <a:xfrm>
            <a:off x="9734892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把握现状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492B2CD5-19E9-FA9A-739F-228ED71AC1F5}"/>
              </a:ext>
            </a:extLst>
          </p:cNvPr>
          <p:cNvSpPr/>
          <p:nvPr/>
        </p:nvSpPr>
        <p:spPr>
          <a:xfrm>
            <a:off x="10875628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73881" y="382027"/>
            <a:ext cx="9284406" cy="484748"/>
            <a:chOff x="571500" y="382027"/>
            <a:chExt cx="9284406" cy="484748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3810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21995" y="382027"/>
              <a:ext cx="9133911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6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个候选经因果矩阵 </a:t>
              </a:r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1/3/9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量化，推理精度得分最高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0675" y="1095280"/>
            <a:ext cx="7766550" cy="230832"/>
            <a:chOff x="748293" y="1095280"/>
            <a:chExt cx="7766550" cy="230832"/>
          </a:xfrm>
        </p:grpSpPr>
        <p:sp>
          <p:nvSpPr>
            <p:cNvPr id="8" name="TextBox 8"/>
            <p:cNvSpPr txBox="1"/>
            <p:nvPr/>
          </p:nvSpPr>
          <p:spPr>
            <a:xfrm>
              <a:off x="748293" y="1095280"/>
              <a:ext cx="77665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用因果矩阵对 </a:t>
              </a:r>
              <a:r>
                <a:rPr lang="en-US" alt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6 </a:t>
              </a:r>
              <a:r>
                <a:rPr lang="zh-CN" altLang="en-US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个候选打分（客户影响 </a:t>
              </a:r>
              <a:r>
                <a:rPr lang="en-US" alt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+ </a:t>
              </a:r>
              <a:r>
                <a:rPr lang="zh-CN" altLang="en-US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发生频率 </a:t>
              </a:r>
              <a:r>
                <a:rPr lang="en-US" altLang="zh-CN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+ </a:t>
              </a:r>
              <a:r>
                <a:rPr lang="zh-CN" altLang="en-US" sz="150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短板契合度），推理精度独占最高分。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3881" y="1771651"/>
            <a:ext cx="11049000" cy="3381375"/>
            <a:chOff x="571500" y="1771650"/>
            <a:chExt cx="11049000" cy="3381375"/>
          </a:xfrm>
        </p:grpSpPr>
        <p:sp>
          <p:nvSpPr>
            <p:cNvPr id="10" name="Rectangle 10"/>
            <p:cNvSpPr/>
            <p:nvPr/>
          </p:nvSpPr>
          <p:spPr>
            <a:xfrm>
              <a:off x="571500" y="1771650"/>
              <a:ext cx="11049000" cy="400050"/>
            </a:xfrm>
            <a:prstGeom prst="rect">
              <a:avLst/>
            </a:prstGeom>
            <a:solidFill>
              <a:srgbClr val="1D1D1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6760" y="1899285"/>
              <a:ext cx="243656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候选主题（</a:t>
              </a:r>
              <a:r>
                <a:rPr lang="en-US" alt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vLLM-Ascend </a:t>
              </a:r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全流程）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9723" y="1899285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客户影响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83723" y="1899285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发生频率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07723" y="1899285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短板契合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0361" y="1899285"/>
              <a:ext cx="30777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合计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2171700"/>
              <a:ext cx="11049000" cy="495300"/>
            </a:xfrm>
            <a:prstGeom prst="rect">
              <a:avLst/>
            </a:prstGeom>
            <a:solidFill>
              <a:srgbClr val="FFF5F5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52475" y="2314575"/>
              <a:ext cx="171450" cy="171450"/>
              <a:chOff x="752475" y="2314575"/>
              <a:chExt cx="171450" cy="1714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28675" y="23907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90575" y="23526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52475" y="23145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12508" y="2338864"/>
              <a:ext cx="2006960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① 推理精度（对齐与定位）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08990" y="2317432"/>
              <a:ext cx="1170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2990" y="2317432"/>
              <a:ext cx="1170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56990" y="2317432"/>
              <a:ext cx="1170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16010" y="2301240"/>
              <a:ext cx="25648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27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1500" y="2667000"/>
              <a:ext cx="110490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52475" y="2847975"/>
              <a:ext cx="171450" cy="95250"/>
              <a:chOff x="752475" y="2847975"/>
              <a:chExt cx="171450" cy="952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52475" y="2847975"/>
                <a:ext cx="1714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0">
                    <a:moveTo>
                      <a:pt x="0" y="95250"/>
                    </a:moveTo>
                    <a:lnTo>
                      <a:pt x="57150" y="38100"/>
                    </a:lnTo>
                    <a:lnTo>
                      <a:pt x="95250" y="7620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57250" y="28479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12508" y="2834164"/>
              <a:ext cx="862416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② 吞吐性能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3799" y="28289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37799" y="28289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61799" y="28289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36849" y="2828925"/>
              <a:ext cx="2148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1500" y="3162300"/>
              <a:ext cx="11049000" cy="4953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52475" y="3314700"/>
              <a:ext cx="171450" cy="152400"/>
              <a:chOff x="752475" y="3314700"/>
              <a:chExt cx="171450" cy="1524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52475" y="3314700"/>
                <a:ext cx="1714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762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47625"/>
                    </a:lnTo>
                    <a:cubicBezTo>
                      <a:pt x="171450" y="63407"/>
                      <a:pt x="158657" y="76200"/>
                      <a:pt x="142875" y="76200"/>
                    </a:cubicBezTo>
                    <a:lnTo>
                      <a:pt x="28575" y="76200"/>
                    </a:lnTo>
                    <a:cubicBezTo>
                      <a:pt x="12793" y="76200"/>
                      <a:pt x="0" y="63407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52475" y="3390900"/>
                <a:ext cx="1714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762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47625"/>
                    </a:lnTo>
                    <a:cubicBezTo>
                      <a:pt x="171450" y="63407"/>
                      <a:pt x="158657" y="76200"/>
                      <a:pt x="142875" y="76200"/>
                    </a:cubicBezTo>
                    <a:lnTo>
                      <a:pt x="28575" y="76200"/>
                    </a:lnTo>
                    <a:cubicBezTo>
                      <a:pt x="12793" y="76200"/>
                      <a:pt x="0" y="63407"/>
                      <a:pt x="0" y="476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90575" y="3352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90575" y="3429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12508" y="3329464"/>
              <a:ext cx="997068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③ 显存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内存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3799" y="33242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37799" y="33242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61799" y="33242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90549" y="33242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7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1500" y="3657600"/>
              <a:ext cx="110490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48294" y="3796294"/>
              <a:ext cx="179813" cy="179813"/>
              <a:chOff x="748294" y="3796294"/>
              <a:chExt cx="179813" cy="17981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48294" y="3796294"/>
                <a:ext cx="179813" cy="179813"/>
              </a:xfrm>
              <a:custGeom>
                <a:avLst/>
                <a:gdLst/>
                <a:ahLst/>
                <a:cxnLst/>
                <a:rect l="l" t="t" r="r" b="b"/>
                <a:pathLst>
                  <a:path w="179813" h="179813">
                    <a:moveTo>
                      <a:pt x="73952" y="16726"/>
                    </a:moveTo>
                    <a:cubicBezTo>
                      <a:pt x="78010" y="0"/>
                      <a:pt x="101803" y="0"/>
                      <a:pt x="105861" y="16726"/>
                    </a:cubicBezTo>
                    <a:cubicBezTo>
                      <a:pt x="107096" y="21822"/>
                      <a:pt x="110690" y="26023"/>
                      <a:pt x="115535" y="28030"/>
                    </a:cubicBezTo>
                    <a:cubicBezTo>
                      <a:pt x="120380" y="30037"/>
                      <a:pt x="125891" y="29609"/>
                      <a:pt x="130369" y="26880"/>
                    </a:cubicBezTo>
                    <a:cubicBezTo>
                      <a:pt x="145066" y="17926"/>
                      <a:pt x="161896" y="34747"/>
                      <a:pt x="152943" y="49454"/>
                    </a:cubicBezTo>
                    <a:cubicBezTo>
                      <a:pt x="150217" y="53929"/>
                      <a:pt x="149791" y="59437"/>
                      <a:pt x="151795" y="64278"/>
                    </a:cubicBezTo>
                    <a:cubicBezTo>
                      <a:pt x="153800" y="69120"/>
                      <a:pt x="157995" y="72714"/>
                      <a:pt x="163087" y="73952"/>
                    </a:cubicBezTo>
                    <a:cubicBezTo>
                      <a:pt x="179813" y="78010"/>
                      <a:pt x="179813" y="101803"/>
                      <a:pt x="163087" y="105861"/>
                    </a:cubicBezTo>
                    <a:cubicBezTo>
                      <a:pt x="157991" y="107096"/>
                      <a:pt x="153790" y="110690"/>
                      <a:pt x="151783" y="115535"/>
                    </a:cubicBezTo>
                    <a:cubicBezTo>
                      <a:pt x="149776" y="120380"/>
                      <a:pt x="150204" y="125891"/>
                      <a:pt x="152933" y="130369"/>
                    </a:cubicBezTo>
                    <a:cubicBezTo>
                      <a:pt x="161887" y="145066"/>
                      <a:pt x="145066" y="161896"/>
                      <a:pt x="130359" y="152943"/>
                    </a:cubicBezTo>
                    <a:cubicBezTo>
                      <a:pt x="125884" y="150217"/>
                      <a:pt x="120376" y="149791"/>
                      <a:pt x="115535" y="151795"/>
                    </a:cubicBezTo>
                    <a:cubicBezTo>
                      <a:pt x="110693" y="153800"/>
                      <a:pt x="107099" y="157995"/>
                      <a:pt x="105861" y="163087"/>
                    </a:cubicBezTo>
                    <a:cubicBezTo>
                      <a:pt x="101803" y="179813"/>
                      <a:pt x="78010" y="179813"/>
                      <a:pt x="73952" y="163087"/>
                    </a:cubicBezTo>
                    <a:cubicBezTo>
                      <a:pt x="72717" y="157991"/>
                      <a:pt x="69123" y="153790"/>
                      <a:pt x="64278" y="151783"/>
                    </a:cubicBezTo>
                    <a:cubicBezTo>
                      <a:pt x="59433" y="149776"/>
                      <a:pt x="53922" y="150204"/>
                      <a:pt x="49444" y="152933"/>
                    </a:cubicBezTo>
                    <a:cubicBezTo>
                      <a:pt x="34747" y="161887"/>
                      <a:pt x="17917" y="145066"/>
                      <a:pt x="26870" y="130359"/>
                    </a:cubicBezTo>
                    <a:cubicBezTo>
                      <a:pt x="29596" y="125884"/>
                      <a:pt x="30022" y="120376"/>
                      <a:pt x="28018" y="115535"/>
                    </a:cubicBezTo>
                    <a:cubicBezTo>
                      <a:pt x="26013" y="110693"/>
                      <a:pt x="21818" y="107099"/>
                      <a:pt x="16726" y="105861"/>
                    </a:cubicBezTo>
                    <a:cubicBezTo>
                      <a:pt x="0" y="101803"/>
                      <a:pt x="0" y="78010"/>
                      <a:pt x="16726" y="73952"/>
                    </a:cubicBezTo>
                    <a:cubicBezTo>
                      <a:pt x="21822" y="72717"/>
                      <a:pt x="26023" y="69123"/>
                      <a:pt x="28030" y="64278"/>
                    </a:cubicBezTo>
                    <a:cubicBezTo>
                      <a:pt x="30037" y="59433"/>
                      <a:pt x="29609" y="53922"/>
                      <a:pt x="26880" y="49444"/>
                    </a:cubicBezTo>
                    <a:cubicBezTo>
                      <a:pt x="17926" y="34747"/>
                      <a:pt x="34747" y="17917"/>
                      <a:pt x="49454" y="26870"/>
                    </a:cubicBezTo>
                    <a:cubicBezTo>
                      <a:pt x="58979" y="32661"/>
                      <a:pt x="71323" y="27537"/>
                      <a:pt x="73952" y="16726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09625" y="38576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12508" y="3824764"/>
              <a:ext cx="997068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④ 调度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部署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13799" y="38195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37799" y="38195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61799" y="38195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90549" y="38195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1500" y="4152900"/>
              <a:ext cx="11049000" cy="4953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52475" y="4295775"/>
              <a:ext cx="171450" cy="171450"/>
              <a:chOff x="752475" y="4295775"/>
              <a:chExt cx="171450" cy="17145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52475" y="43529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66775" y="43529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09625" y="42957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09625" y="44100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12508" y="4320064"/>
              <a:ext cx="1259960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⑤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KV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传输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通信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13799" y="43148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37799" y="43148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61799" y="43148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090549" y="43148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71500" y="4648200"/>
              <a:ext cx="110490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746800" y="4785400"/>
              <a:ext cx="180253" cy="180253"/>
            </a:xfrm>
            <a:custGeom>
              <a:avLst/>
              <a:gdLst/>
              <a:ahLst/>
              <a:cxnLst/>
              <a:rect l="l" t="t" r="r" b="b"/>
              <a:pathLst>
                <a:path w="180253" h="180253">
                  <a:moveTo>
                    <a:pt x="43775" y="72350"/>
                  </a:moveTo>
                  <a:lnTo>
                    <a:pt x="72350" y="72350"/>
                  </a:lnTo>
                  <a:lnTo>
                    <a:pt x="72350" y="43775"/>
                  </a:lnTo>
                  <a:lnTo>
                    <a:pt x="39013" y="10438"/>
                  </a:lnTo>
                  <a:cubicBezTo>
                    <a:pt x="60867" y="0"/>
                    <a:pt x="86928" y="4471"/>
                    <a:pt x="104053" y="21597"/>
                  </a:cubicBezTo>
                  <a:cubicBezTo>
                    <a:pt x="121179" y="38722"/>
                    <a:pt x="125650" y="64783"/>
                    <a:pt x="115213" y="86638"/>
                  </a:cubicBezTo>
                  <a:lnTo>
                    <a:pt x="172363" y="143788"/>
                  </a:lnTo>
                  <a:cubicBezTo>
                    <a:pt x="180253" y="151678"/>
                    <a:pt x="180253" y="164472"/>
                    <a:pt x="172363" y="172363"/>
                  </a:cubicBezTo>
                  <a:cubicBezTo>
                    <a:pt x="164472" y="180253"/>
                    <a:pt x="151678" y="180253"/>
                    <a:pt x="143788" y="172363"/>
                  </a:cubicBezTo>
                  <a:lnTo>
                    <a:pt x="86638" y="115213"/>
                  </a:lnTo>
                  <a:cubicBezTo>
                    <a:pt x="64783" y="125650"/>
                    <a:pt x="38722" y="121179"/>
                    <a:pt x="21597" y="104053"/>
                  </a:cubicBezTo>
                  <a:cubicBezTo>
                    <a:pt x="4471" y="86928"/>
                    <a:pt x="0" y="60867"/>
                    <a:pt x="10438" y="39013"/>
                  </a:cubicBezTo>
                  <a:lnTo>
                    <a:pt x="43775" y="7235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12508" y="4815364"/>
              <a:ext cx="1324080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⑥ 工具链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可观测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3799" y="48101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137799" y="48101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61799" y="4810125"/>
              <a:ext cx="1074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36849" y="4810125"/>
              <a:ext cx="2148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21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571500" y="1771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571500" y="514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6096000" y="1771650"/>
              <a:ext cx="9525" cy="3371850"/>
            </a:xfrm>
            <a:custGeom>
              <a:avLst/>
              <a:gdLst/>
              <a:ahLst/>
              <a:cxnLst/>
              <a:rect l="l" t="t" r="r" b="b"/>
              <a:pathLst>
                <a:path w="9525" h="3371850">
                  <a:moveTo>
                    <a:pt x="0" y="0"/>
                  </a:moveTo>
                  <a:lnTo>
                    <a:pt x="0" y="337185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7429500" y="1771650"/>
              <a:ext cx="9525" cy="3371850"/>
            </a:xfrm>
            <a:custGeom>
              <a:avLst/>
              <a:gdLst/>
              <a:ahLst/>
              <a:cxnLst/>
              <a:rect l="l" t="t" r="r" b="b"/>
              <a:pathLst>
                <a:path w="9525" h="3371850">
                  <a:moveTo>
                    <a:pt x="0" y="0"/>
                  </a:moveTo>
                  <a:lnTo>
                    <a:pt x="0" y="337185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8953500" y="1771650"/>
              <a:ext cx="9525" cy="3371850"/>
            </a:xfrm>
            <a:custGeom>
              <a:avLst/>
              <a:gdLst/>
              <a:ahLst/>
              <a:cxnLst/>
              <a:rect l="l" t="t" r="r" b="b"/>
              <a:pathLst>
                <a:path w="9525" h="3371850">
                  <a:moveTo>
                    <a:pt x="0" y="0"/>
                  </a:moveTo>
                  <a:lnTo>
                    <a:pt x="0" y="337185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10477500" y="1771650"/>
              <a:ext cx="9525" cy="3371850"/>
            </a:xfrm>
            <a:custGeom>
              <a:avLst/>
              <a:gdLst/>
              <a:ahLst/>
              <a:cxnLst/>
              <a:rect l="l" t="t" r="r" b="b"/>
              <a:pathLst>
                <a:path w="9525" h="3371850">
                  <a:moveTo>
                    <a:pt x="0" y="0"/>
                  </a:moveTo>
                  <a:lnTo>
                    <a:pt x="0" y="337185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573881" y="5391150"/>
            <a:ext cx="11049000" cy="876300"/>
            <a:chOff x="571500" y="5391150"/>
            <a:chExt cx="11049000" cy="876300"/>
          </a:xfrm>
        </p:grpSpPr>
        <p:sp>
          <p:nvSpPr>
            <p:cNvPr id="80" name="Rectangle 80"/>
            <p:cNvSpPr/>
            <p:nvPr/>
          </p:nvSpPr>
          <p:spPr>
            <a:xfrm>
              <a:off x="571500" y="5391150"/>
              <a:ext cx="11049000" cy="876300"/>
            </a:xfrm>
            <a:prstGeom prst="roundRect">
              <a:avLst>
                <a:gd name="adj" fmla="val 8696"/>
              </a:avLst>
            </a:prstGeom>
            <a:solidFill>
              <a:srgbClr val="FFF5F5"/>
            </a:solidFill>
            <a:ln w="14288">
              <a:solidFill>
                <a:srgbClr val="C7000B"/>
              </a:solidFill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86768" y="5572762"/>
              <a:ext cx="212655" cy="212673"/>
              <a:chOff x="786768" y="5572762"/>
              <a:chExt cx="212655" cy="212673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884238" y="56657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39788" y="562133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3" y="0"/>
                    </a:moveTo>
                    <a:cubicBezTo>
                      <a:pt x="24876" y="0"/>
                      <a:pt x="0" y="24876"/>
                      <a:pt x="0" y="55563"/>
                    </a:cubicBez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86768" y="5572762"/>
                <a:ext cx="212655" cy="212673"/>
              </a:xfrm>
              <a:custGeom>
                <a:avLst/>
                <a:gdLst/>
                <a:ahLst/>
                <a:cxnLst/>
                <a:rect l="l" t="t" r="r" b="b"/>
                <a:pathLst>
                  <a:path w="212655" h="212673">
                    <a:moveTo>
                      <a:pt x="119695" y="4737"/>
                    </a:moveTo>
                    <a:cubicBezTo>
                      <a:pt x="77470" y="0"/>
                      <a:pt x="36862" y="22459"/>
                      <a:pt x="18431" y="60743"/>
                    </a:cubicBezTo>
                    <a:cubicBezTo>
                      <a:pt x="0" y="99026"/>
                      <a:pt x="7770" y="144776"/>
                      <a:pt x="37807" y="174828"/>
                    </a:cubicBezTo>
                    <a:cubicBezTo>
                      <a:pt x="67844" y="204880"/>
                      <a:pt x="113590" y="212673"/>
                      <a:pt x="151883" y="194262"/>
                    </a:cubicBezTo>
                    <a:cubicBezTo>
                      <a:pt x="190175" y="175850"/>
                      <a:pt x="212655" y="135253"/>
                      <a:pt x="207939" y="93026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28688" y="55768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0" y="66675"/>
                    </a:lnTo>
                    <a:lnTo>
                      <a:pt x="33338" y="66675"/>
                    </a:lnTo>
                    <a:lnTo>
                      <a:pt x="66675" y="33338"/>
                    </a:lnTo>
                    <a:lnTo>
                      <a:pt x="33338" y="33338"/>
                    </a:lnTo>
                    <a:lnTo>
                      <a:pt x="33338" y="0"/>
                    </a:ln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95350" y="5643563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33338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125855" y="5569268"/>
              <a:ext cx="448199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结论：推理精度 </a:t>
              </a:r>
              <a:r>
                <a:rPr lang="en-US" alt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27 </a:t>
              </a:r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分独占最高</a:t>
              </a:r>
              <a:r>
                <a:rPr lang="en-US" alt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——</a:t>
              </a:r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三维度均取 </a:t>
              </a:r>
              <a:r>
                <a:rPr lang="en-US" alt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9</a:t>
              </a:r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，合计 </a:t>
              </a:r>
              <a:r>
                <a:rPr lang="en-US" alt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27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27760" y="5833110"/>
              <a:ext cx="654987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客户影响 </a:t>
              </a:r>
              <a:r>
                <a:rPr lang="en-US" altLang="zh-CN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9</a:t>
              </a:r>
              <a:r>
                <a:rPr lang="zh-CN" altLang="en-US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en-US" altLang="zh-CN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8 </a:t>
              </a:r>
              <a:r>
                <a:rPr lang="zh-CN" altLang="en-US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局点高频反馈）</a:t>
              </a:r>
              <a:r>
                <a:rPr lang="en-US" altLang="zh-CN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发生频率 </a:t>
              </a:r>
              <a:r>
                <a:rPr lang="en-US" altLang="zh-CN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9</a:t>
              </a:r>
              <a:r>
                <a:rPr lang="zh-CN" altLang="en-US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（版本迭代持续暴露）</a:t>
              </a:r>
              <a:r>
                <a:rPr lang="en-US" altLang="zh-CN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短板契合 </a:t>
              </a:r>
              <a:r>
                <a:rPr lang="en-US" altLang="zh-CN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9</a:t>
              </a:r>
              <a:r>
                <a:rPr lang="zh-CN" altLang="en-US" sz="120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（部门首要短板）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28712" y="6050756"/>
              <a:ext cx="7255191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打分标准：</a:t>
              </a:r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9=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高影响</a:t>
              </a:r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/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高频</a:t>
              </a:r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/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正对首要短板，</a:t>
              </a:r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3=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中，</a:t>
              </a:r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1=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低；候选②</a:t>
              </a:r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-⑥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虽重要，但非本次部门首要短板，作为后续课题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73881" y="6553200"/>
            <a:ext cx="11061382" cy="236060"/>
            <a:chOff x="571500" y="6553200"/>
            <a:chExt cx="11061382" cy="236060"/>
          </a:xfrm>
        </p:grpSpPr>
        <p:sp>
          <p:nvSpPr>
            <p:cNvPr id="91" name="Line 91"/>
            <p:cNvSpPr/>
            <p:nvPr/>
          </p:nvSpPr>
          <p:spPr>
            <a:xfrm>
              <a:off x="571500" y="6553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1244955" y="6638449"/>
              <a:ext cx="387927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8C8C8C"/>
                  </a:solidFill>
                  <a:latin typeface="Arial"/>
                  <a:ea typeface="Arial"/>
                  <a:cs typeface="Arial"/>
                </a:rPr>
                <a:t>05 / 15</a:t>
              </a:r>
            </a:p>
          </p:txBody>
        </p:sp>
      </p:grpSp>
      <p:sp>
        <p:nvSpPr>
          <p:cNvPr id="95" name="矩形 94">
            <a:extLst>
              <a:ext uri="{FF2B5EF4-FFF2-40B4-BE49-F238E27FC236}">
                <a16:creationId xmlns:a16="http://schemas.microsoft.com/office/drawing/2014/main" id="{0FAC4991-AFD8-1A5F-1678-B7B117C57450}"/>
              </a:ext>
            </a:extLst>
          </p:cNvPr>
          <p:cNvSpPr/>
          <p:nvPr/>
        </p:nvSpPr>
        <p:spPr>
          <a:xfrm>
            <a:off x="7453420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部门短板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F6CA9FA0-8698-9B7A-4ADD-C173B6E50718}"/>
              </a:ext>
            </a:extLst>
          </p:cNvPr>
          <p:cNvSpPr/>
          <p:nvPr/>
        </p:nvSpPr>
        <p:spPr>
          <a:xfrm>
            <a:off x="8594156" y="49189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选定主题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72FE68E-8DF0-1A2C-74FE-829EFCFDD2FD}"/>
              </a:ext>
            </a:extLst>
          </p:cNvPr>
          <p:cNvSpPr/>
          <p:nvPr/>
        </p:nvSpPr>
        <p:spPr>
          <a:xfrm>
            <a:off x="9734892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把握现状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4C08B2CC-5C09-C0AA-8EAF-420821E3ACE5}"/>
              </a:ext>
            </a:extLst>
          </p:cNvPr>
          <p:cNvSpPr/>
          <p:nvPr/>
        </p:nvSpPr>
        <p:spPr>
          <a:xfrm>
            <a:off x="10875628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73881" y="376237"/>
            <a:ext cx="9063260" cy="484748"/>
            <a:chOff x="571500" y="376237"/>
            <a:chExt cx="9063260" cy="484748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3810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7712" y="376237"/>
              <a:ext cx="888704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改进主题为动宾短语，鱼骨图论证精度短板成因链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4831" y="1183980"/>
            <a:ext cx="11049000" cy="952500"/>
            <a:chOff x="571500" y="1428750"/>
            <a:chExt cx="11049000" cy="952500"/>
          </a:xfrm>
        </p:grpSpPr>
        <p:sp>
          <p:nvSpPr>
            <p:cNvPr id="8" name="Rectangle 8"/>
            <p:cNvSpPr/>
            <p:nvPr/>
          </p:nvSpPr>
          <p:spPr>
            <a:xfrm>
              <a:off x="571500" y="1428750"/>
              <a:ext cx="11049000" cy="952500"/>
            </a:xfrm>
            <a:prstGeom prst="roundRect">
              <a:avLst>
                <a:gd name="adj" fmla="val 8000"/>
              </a:avLst>
            </a:prstGeom>
            <a:solidFill>
              <a:srgbClr val="FFF5F5"/>
            </a:solidFill>
            <a:ln w="14288">
              <a:solidFill>
                <a:srgbClr val="C7000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7712" y="1574006"/>
              <a:ext cx="1442703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改进主题（动宾短语）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3425" y="1795462"/>
              <a:ext cx="52738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2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提升精度问题的</a:t>
              </a:r>
              <a:r>
                <a:rPr lang="zh-CN" altLang="en-US" sz="22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定位效率与回归看护能力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54831" y="2328381"/>
            <a:ext cx="11068050" cy="3857625"/>
            <a:chOff x="552450" y="2543175"/>
            <a:chExt cx="11068050" cy="3857625"/>
          </a:xfrm>
        </p:grpSpPr>
        <p:sp>
          <p:nvSpPr>
            <p:cNvPr id="13" name="TextBox 13"/>
            <p:cNvSpPr txBox="1"/>
            <p:nvPr/>
          </p:nvSpPr>
          <p:spPr>
            <a:xfrm>
              <a:off x="552450" y="2543175"/>
              <a:ext cx="285334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鱼骨图论证 </a:t>
              </a:r>
              <a:r>
                <a:rPr lang="en-US" altLang="zh-CN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为什么选</a:t>
              </a:r>
              <a:r>
                <a:rPr lang="en-US" altLang="zh-CN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"</a:t>
              </a:r>
              <a:r>
                <a:rPr lang="zh-CN" altLang="en-US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推理精度</a:t>
              </a:r>
              <a:r>
                <a:rPr lang="en-US" altLang="zh-CN" sz="15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"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1500" y="2819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C7000B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143000" y="46672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28575">
              <a:solidFill>
                <a:srgbClr val="1D1D1A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8572500" y="4381500"/>
              <a:ext cx="476250" cy="571500"/>
            </a:xfrm>
            <a:custGeom>
              <a:avLst/>
              <a:gdLst/>
              <a:ahLst/>
              <a:cxnLst/>
              <a:rect l="l" t="t" r="r" b="b"/>
              <a:pathLst>
                <a:path w="476250" h="571500">
                  <a:moveTo>
                    <a:pt x="0" y="285750"/>
                  </a:moveTo>
                  <a:lnTo>
                    <a:pt x="476250" y="0"/>
                  </a:lnTo>
                  <a:lnTo>
                    <a:pt x="476250" y="571500"/>
                  </a:lnTo>
                  <a:close/>
                </a:path>
              </a:pathLst>
            </a:custGeom>
            <a:solidFill>
              <a:srgbClr val="C700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048750" y="4333875"/>
              <a:ext cx="1905000" cy="666750"/>
            </a:xfrm>
            <a:prstGeom prst="roundRect">
              <a:avLst>
                <a:gd name="adj" fmla="val 8571"/>
              </a:avLst>
            </a:prstGeom>
            <a:solidFill>
              <a:srgbClr val="FFF5F5"/>
            </a:solidFill>
            <a:ln w="19050">
              <a:solidFill>
                <a:srgbClr val="C7000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09503" y="4477702"/>
              <a:ext cx="58349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0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鱼头</a:t>
              </a:r>
              <a:r>
                <a:rPr lang="en-US" altLang="zh-CN" sz="10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altLang="en-US" sz="10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短板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81877" y="4673918"/>
              <a:ext cx="103874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3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精度定位短板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476500" y="3238500"/>
              <a:ext cx="1143000" cy="1428750"/>
            </a:xfrm>
            <a:custGeom>
              <a:avLst/>
              <a:gdLst/>
              <a:ahLst/>
              <a:cxnLst/>
              <a:rect l="l" t="t" r="r" b="b"/>
              <a:pathLst>
                <a:path w="1143000" h="1428750">
                  <a:moveTo>
                    <a:pt x="0" y="0"/>
                  </a:moveTo>
                  <a:lnTo>
                    <a:pt x="1143000" y="1428750"/>
                  </a:lnTo>
                </a:path>
              </a:pathLst>
            </a:custGeom>
            <a:noFill/>
            <a:ln w="19050">
              <a:solidFill>
                <a:srgbClr val="595959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000250" y="3009900"/>
              <a:ext cx="762000" cy="285750"/>
            </a:xfrm>
            <a:prstGeom prst="roundRect">
              <a:avLst>
                <a:gd name="adj" fmla="val 13333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27361" y="3080385"/>
              <a:ext cx="30777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现象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381250" y="3762375"/>
              <a:ext cx="476250" cy="238125"/>
            </a:xfrm>
            <a:custGeom>
              <a:avLst/>
              <a:gdLst/>
              <a:ahLst/>
              <a:cxnLst/>
              <a:rect l="l" t="t" r="r" b="b"/>
              <a:pathLst>
                <a:path w="476250" h="238125">
                  <a:moveTo>
                    <a:pt x="476250" y="2381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C8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9665" y="3620452"/>
              <a:ext cx="115095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乱码</a:t>
              </a:r>
              <a:r>
                <a:rPr lang="en-US" altLang="zh-CN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</a:t>
              </a:r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重复</a:t>
              </a:r>
              <a:r>
                <a:rPr lang="en-US" altLang="zh-CN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</a:t>
              </a:r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中英混杂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714625" y="4095750"/>
              <a:ext cx="476250" cy="238125"/>
            </a:xfrm>
            <a:custGeom>
              <a:avLst/>
              <a:gdLst/>
              <a:ahLst/>
              <a:cxnLst/>
              <a:rect l="l" t="t" r="r" b="b"/>
              <a:pathLst>
                <a:path w="476250" h="238125">
                  <a:moveTo>
                    <a:pt x="476250" y="2381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C8C8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63040" y="3953828"/>
              <a:ext cx="94256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跨端结果不一致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905500" y="3238500"/>
              <a:ext cx="1143000" cy="1428750"/>
            </a:xfrm>
            <a:custGeom>
              <a:avLst/>
              <a:gdLst/>
              <a:ahLst/>
              <a:cxnLst/>
              <a:rect l="l" t="t" r="r" b="b"/>
              <a:pathLst>
                <a:path w="1143000" h="1428750">
                  <a:moveTo>
                    <a:pt x="0" y="0"/>
                  </a:moveTo>
                  <a:lnTo>
                    <a:pt x="1143000" y="1428750"/>
                  </a:lnTo>
                </a:path>
              </a:pathLst>
            </a:custGeom>
            <a:noFill/>
            <a:ln w="19050">
              <a:solidFill>
                <a:srgbClr val="595959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0" y="3009900"/>
              <a:ext cx="762000" cy="285750"/>
            </a:xfrm>
            <a:prstGeom prst="roundRect">
              <a:avLst>
                <a:gd name="adj" fmla="val 13333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56361" y="3080385"/>
              <a:ext cx="30777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工具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810250" y="3762375"/>
              <a:ext cx="476250" cy="238125"/>
            </a:xfrm>
            <a:custGeom>
              <a:avLst/>
              <a:gdLst/>
              <a:ahLst/>
              <a:cxnLst/>
              <a:rect l="l" t="t" r="r" b="b"/>
              <a:pathLst>
                <a:path w="476250" h="238125">
                  <a:moveTo>
                    <a:pt x="476250" y="2381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C8C8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63415" y="3620452"/>
              <a:ext cx="94256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缺逐层比对标杆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143625" y="4095750"/>
              <a:ext cx="476250" cy="238125"/>
            </a:xfrm>
            <a:custGeom>
              <a:avLst/>
              <a:gdLst/>
              <a:ahLst/>
              <a:cxnLst/>
              <a:rect l="l" t="t" r="r" b="b"/>
              <a:pathLst>
                <a:path w="476250" h="238125">
                  <a:moveTo>
                    <a:pt x="476250" y="2381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C8C8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49165" y="3953828"/>
              <a:ext cx="107721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自动化定位能力弱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619500" y="4667250"/>
              <a:ext cx="1143000" cy="1428750"/>
            </a:xfrm>
            <a:custGeom>
              <a:avLst/>
              <a:gdLst/>
              <a:ahLst/>
              <a:cxnLst/>
              <a:rect l="l" t="t" r="r" b="b"/>
              <a:pathLst>
                <a:path w="1143000" h="1428750">
                  <a:moveTo>
                    <a:pt x="0" y="142875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59595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43250" y="6115050"/>
              <a:ext cx="762000" cy="285750"/>
            </a:xfrm>
            <a:prstGeom prst="roundRect">
              <a:avLst>
                <a:gd name="adj" fmla="val 13333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370361" y="6185535"/>
              <a:ext cx="30777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524250" y="5381625"/>
              <a:ext cx="476250" cy="238125"/>
            </a:xfrm>
            <a:custGeom>
              <a:avLst/>
              <a:gdLst/>
              <a:ahLst/>
              <a:cxnLst/>
              <a:rect l="l" t="t" r="r" b="b"/>
              <a:pathLst>
                <a:path w="476250" h="238125">
                  <a:moveTo>
                    <a:pt x="476250" y="0"/>
                  </a:moveTo>
                  <a:lnTo>
                    <a:pt x="0" y="238125"/>
                  </a:lnTo>
                </a:path>
              </a:pathLst>
            </a:custGeom>
            <a:noFill/>
            <a:ln w="9525">
              <a:solidFill>
                <a:srgbClr val="8C8C8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082165" y="5658802"/>
              <a:ext cx="80791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量化精度损失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3905250" y="5000625"/>
              <a:ext cx="476250" cy="238125"/>
            </a:xfrm>
            <a:custGeom>
              <a:avLst/>
              <a:gdLst/>
              <a:ahLst/>
              <a:cxnLst/>
              <a:rect l="l" t="t" r="r" b="b"/>
              <a:pathLst>
                <a:path w="476250" h="238125">
                  <a:moveTo>
                    <a:pt x="476250" y="0"/>
                  </a:moveTo>
                  <a:lnTo>
                    <a:pt x="0" y="238125"/>
                  </a:lnTo>
                </a:path>
              </a:pathLst>
            </a:custGeom>
            <a:noFill/>
            <a:ln w="9525">
              <a:solidFill>
                <a:srgbClr val="8C8C8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463165" y="5277802"/>
              <a:ext cx="134972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KV Cache + MTP </a:t>
              </a:r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协同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048500" y="4667250"/>
              <a:ext cx="1143000" cy="1428750"/>
            </a:xfrm>
            <a:custGeom>
              <a:avLst/>
              <a:gdLst/>
              <a:ahLst/>
              <a:cxnLst/>
              <a:rect l="l" t="t" r="r" b="b"/>
              <a:pathLst>
                <a:path w="1143000" h="1428750">
                  <a:moveTo>
                    <a:pt x="0" y="142875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595959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572250" y="6115050"/>
              <a:ext cx="762000" cy="285750"/>
            </a:xfrm>
            <a:prstGeom prst="roundRect">
              <a:avLst>
                <a:gd name="adj" fmla="val 13333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99361" y="6185535"/>
              <a:ext cx="30777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场景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953250" y="5381625"/>
              <a:ext cx="476250" cy="238125"/>
            </a:xfrm>
            <a:custGeom>
              <a:avLst/>
              <a:gdLst/>
              <a:ahLst/>
              <a:cxnLst/>
              <a:rect l="l" t="t" r="r" b="b"/>
              <a:pathLst>
                <a:path w="476250" h="238125">
                  <a:moveTo>
                    <a:pt x="476250" y="0"/>
                  </a:moveTo>
                  <a:lnTo>
                    <a:pt x="0" y="238125"/>
                  </a:lnTo>
                </a:path>
              </a:pathLst>
            </a:custGeom>
            <a:noFill/>
            <a:ln w="9525">
              <a:solidFill>
                <a:srgbClr val="8C8C8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11165" y="5658802"/>
              <a:ext cx="120545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长序列</a:t>
              </a:r>
              <a:r>
                <a:rPr lang="en-US" altLang="zh-CN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/tool call </a:t>
              </a:r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高发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7334250" y="5000625"/>
              <a:ext cx="476250" cy="238125"/>
            </a:xfrm>
            <a:custGeom>
              <a:avLst/>
              <a:gdLst/>
              <a:ahLst/>
              <a:cxnLst/>
              <a:rect l="l" t="t" r="r" b="b"/>
              <a:pathLst>
                <a:path w="476250" h="238125">
                  <a:moveTo>
                    <a:pt x="476250" y="0"/>
                  </a:moveTo>
                  <a:lnTo>
                    <a:pt x="0" y="238125"/>
                  </a:lnTo>
                </a:path>
              </a:pathLst>
            </a:custGeom>
            <a:noFill/>
            <a:ln w="9525">
              <a:solidFill>
                <a:srgbClr val="8C8C8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92165" y="5277802"/>
              <a:ext cx="116698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PD </a:t>
              </a:r>
              <a:r>
                <a:rPr lang="zh-CN" altLang="en-US" sz="105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分离大规模暴露</a:t>
              </a:r>
            </a:p>
          </p:txBody>
        </p:sp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15E9C09A-BE8B-DE34-E5B7-7062062478B3}"/>
              </a:ext>
            </a:extLst>
          </p:cNvPr>
          <p:cNvSpPr/>
          <p:nvPr/>
        </p:nvSpPr>
        <p:spPr>
          <a:xfrm>
            <a:off x="7453420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部门短板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06BA988-919D-9198-2575-4660052DD65A}"/>
              </a:ext>
            </a:extLst>
          </p:cNvPr>
          <p:cNvSpPr/>
          <p:nvPr/>
        </p:nvSpPr>
        <p:spPr>
          <a:xfrm>
            <a:off x="8594156" y="49189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选定主题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8346D8E-FF79-43FC-1D80-428A2461B098}"/>
              </a:ext>
            </a:extLst>
          </p:cNvPr>
          <p:cNvSpPr/>
          <p:nvPr/>
        </p:nvSpPr>
        <p:spPr>
          <a:xfrm>
            <a:off x="9734892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把握现状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409DBD4-04D3-44F2-4993-3D99476506DE}"/>
              </a:ext>
            </a:extLst>
          </p:cNvPr>
          <p:cNvSpPr/>
          <p:nvPr/>
        </p:nvSpPr>
        <p:spPr>
          <a:xfrm>
            <a:off x="10875628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73881" y="360988"/>
            <a:ext cx="9312323" cy="484748"/>
            <a:chOff x="571500" y="360988"/>
            <a:chExt cx="9312323" cy="484748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3810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27470" y="360988"/>
              <a:ext cx="9156353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以 </a:t>
              </a:r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SIPOC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圈定改进范围，度量对象为推理输出精度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73881" y="1230262"/>
            <a:ext cx="11049000" cy="3532239"/>
            <a:chOff x="571500" y="1230261"/>
            <a:chExt cx="11049000" cy="3532239"/>
          </a:xfrm>
        </p:grpSpPr>
        <p:sp>
          <p:nvSpPr>
            <p:cNvPr id="8" name="TextBox 8"/>
            <p:cNvSpPr txBox="1"/>
            <p:nvPr/>
          </p:nvSpPr>
          <p:spPr>
            <a:xfrm>
              <a:off x="743570" y="1230261"/>
              <a:ext cx="64376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500" b="1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Supplier → Input → Process → Output → Customer</a:t>
              </a:r>
              <a:r>
                <a:rPr lang="zh-CN" altLang="en-US" sz="1500" b="1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，五段圈定改进边界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71500" y="2000250"/>
              <a:ext cx="2095500" cy="2667000"/>
              <a:chOff x="571500" y="2000250"/>
              <a:chExt cx="2095500" cy="2667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2000250"/>
                <a:ext cx="2095500" cy="2667000"/>
              </a:xfrm>
              <a:prstGeom prst="roundRect">
                <a:avLst>
                  <a:gd name="adj" fmla="val 2727"/>
                </a:avLst>
              </a:prstGeom>
              <a:solidFill>
                <a:srgbClr val="F5F5F7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71500" y="2000250"/>
                <a:ext cx="2095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571500" y="2362200"/>
                <a:ext cx="2095500" cy="5715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81629" y="2114550"/>
                <a:ext cx="87524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 · </a:t>
                </a:r>
                <a:r>
                  <a:rPr lang="zh-CN" altLang="en-US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供应源</a:t>
                </a:r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1452562" y="2667000"/>
                <a:ext cx="257175" cy="228600"/>
                <a:chOff x="1452562" y="2667000"/>
                <a:chExt cx="257175" cy="22860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1452562" y="266700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452562" y="278130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509712" y="2724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509712" y="2838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128731" y="3081814"/>
                <a:ext cx="981038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现网推理请求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58575" y="3383756"/>
                <a:ext cx="721351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长序列场景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86439" y="3612356"/>
                <a:ext cx="865622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工具调用场景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10484" y="3840956"/>
                <a:ext cx="817531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PD </a:t>
                </a:r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分离场景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59188" y="4220528"/>
                <a:ext cx="920124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rgbClr val="8C8C8C"/>
                    </a:solidFill>
                    <a:latin typeface="Arial"/>
                    <a:ea typeface="Microsoft YaHei"/>
                    <a:cs typeface="Arial"/>
                  </a:rPr>
                  <a:t>8 </a:t>
                </a:r>
                <a:r>
                  <a:rPr lang="zh-CN" altLang="en-US" sz="1050" dirty="0">
                    <a:solidFill>
                      <a:srgbClr val="8C8C8C"/>
                    </a:solidFill>
                    <a:latin typeface="Arial"/>
                    <a:ea typeface="Microsoft YaHei"/>
                    <a:cs typeface="Arial"/>
                  </a:rPr>
                  <a:t>局点现网流量</a:t>
                </a:r>
              </a:p>
            </p:txBody>
          </p:sp>
        </p:grpSp>
        <p:sp>
          <p:nvSpPr>
            <p:cNvPr id="24" name="Polygon 24"/>
            <p:cNvSpPr/>
            <p:nvPr/>
          </p:nvSpPr>
          <p:spPr>
            <a:xfrm>
              <a:off x="2714625" y="3238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2952750" y="2000250"/>
              <a:ext cx="2095500" cy="2667000"/>
              <a:chOff x="2952750" y="2000250"/>
              <a:chExt cx="2095500" cy="2667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2952750" y="2000250"/>
                <a:ext cx="2095500" cy="2667000"/>
              </a:xfrm>
              <a:prstGeom prst="roundRect">
                <a:avLst>
                  <a:gd name="adj" fmla="val 2727"/>
                </a:avLst>
              </a:prstGeom>
              <a:solidFill>
                <a:srgbClr val="F5F5F7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2952750" y="2000250"/>
                <a:ext cx="2095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2952750" y="2362200"/>
                <a:ext cx="2095500" cy="5715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696731" y="2114550"/>
                <a:ext cx="60753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I · </a:t>
                </a:r>
                <a:r>
                  <a:rPr lang="zh-CN" altLang="en-US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输入</a:t>
                </a:r>
              </a:p>
            </p:txBody>
          </p:sp>
          <p:grpSp>
            <p:nvGrpSpPr>
              <p:cNvPr id="33" name="Group 33"/>
              <p:cNvGrpSpPr/>
              <p:nvPr/>
            </p:nvGrpSpPr>
            <p:grpSpPr>
              <a:xfrm>
                <a:off x="3833812" y="2652712"/>
                <a:ext cx="257175" cy="257175"/>
                <a:chOff x="3833812" y="2652712"/>
                <a:chExt cx="257175" cy="25717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3833812" y="273843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005262" y="273843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919538" y="265271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919538" y="28241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3327239" y="3098006"/>
                <a:ext cx="1346522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模型权重 </a:t>
                </a:r>
                <a:r>
                  <a:rPr lang="en-US" altLang="zh-CN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w8a8/w4a8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711959" y="3364706"/>
                <a:ext cx="577081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算子实现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511584" y="3631406"/>
                <a:ext cx="977832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KV Cache </a:t>
                </a:r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447464" y="3898106"/>
                <a:ext cx="1106072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调度与 </a:t>
                </a:r>
                <a:r>
                  <a:rPr lang="en-US" altLang="zh-CN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MTP </a:t>
                </a:r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配置</a:t>
                </a:r>
              </a:p>
            </p:txBody>
          </p:sp>
        </p:grpSp>
        <p:sp>
          <p:nvSpPr>
            <p:cNvPr id="39" name="Polygon 39"/>
            <p:cNvSpPr/>
            <p:nvPr/>
          </p:nvSpPr>
          <p:spPr>
            <a:xfrm>
              <a:off x="5095875" y="3238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5334000" y="1905000"/>
              <a:ext cx="2095500" cy="2857500"/>
              <a:chOff x="5334000" y="1905000"/>
              <a:chExt cx="2095500" cy="2857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334000" y="1905000"/>
                <a:ext cx="2095500" cy="2857500"/>
              </a:xfrm>
              <a:prstGeom prst="roundRect">
                <a:avLst>
                  <a:gd name="adj" fmla="val 2727"/>
                </a:avLst>
              </a:prstGeom>
              <a:solidFill>
                <a:srgbClr val="FFF5F5"/>
              </a:solidFill>
              <a:ln w="19050">
                <a:solidFill>
                  <a:srgbClr val="C7000B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5334000" y="1905000"/>
                <a:ext cx="2095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5334000" y="2266950"/>
                <a:ext cx="2095500" cy="57150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937044" y="2019300"/>
                <a:ext cx="88941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P · </a:t>
                </a:r>
                <a:r>
                  <a:rPr lang="zh-CN" altLang="en-US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过程 ★</a:t>
                </a:r>
              </a:p>
            </p:txBody>
          </p:sp>
          <p:grpSp>
            <p:nvGrpSpPr>
              <p:cNvPr id="54" name="Group 54"/>
              <p:cNvGrpSpPr/>
              <p:nvPr/>
            </p:nvGrpSpPr>
            <p:grpSpPr>
              <a:xfrm>
                <a:off x="6215062" y="2557462"/>
                <a:ext cx="257175" cy="257175"/>
                <a:chOff x="6215062" y="2557462"/>
                <a:chExt cx="257175" cy="257175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6243638" y="25860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lnTo>
                        <a:pt x="185738" y="0"/>
                      </a:lnTo>
                      <a:cubicBezTo>
                        <a:pt x="193628" y="0"/>
                        <a:pt x="200025" y="6397"/>
                        <a:pt x="200025" y="14288"/>
                      </a:cubicBezTo>
                      <a:lnTo>
                        <a:pt x="200025" y="185738"/>
                      </a:lnTo>
                      <a:cubicBezTo>
                        <a:pt x="200025" y="193628"/>
                        <a:pt x="193628" y="200025"/>
                        <a:pt x="185738" y="200025"/>
                      </a:cubicBezTo>
                      <a:lnTo>
                        <a:pt x="14288" y="200025"/>
                      </a:lnTo>
                      <a:cubicBezTo>
                        <a:pt x="6397" y="200025"/>
                        <a:pt x="0" y="193628"/>
                        <a:pt x="0" y="185738"/>
                      </a:cubicBezTo>
                      <a:lnTo>
                        <a:pt x="0" y="14288"/>
                      </a:ln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6300788" y="264318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0"/>
                      </a:moveTo>
                      <a:lnTo>
                        <a:pt x="85725" y="0"/>
                      </a:lnTo>
                      <a:lnTo>
                        <a:pt x="85725" y="85725"/>
                      </a:lnTo>
                      <a:lnTo>
                        <a:pt x="0" y="857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6215062" y="26574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215062" y="271462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315075" y="2557462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372225" y="2557462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443662" y="26574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285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443662" y="271462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285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372225" y="2786062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285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315075" y="2786062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285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7000B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5656391" y="2986564"/>
                <a:ext cx="1450718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280" b="1" dirty="0">
                    <a:solidFill>
                      <a:srgbClr val="C7000B"/>
                    </a:solidFill>
                    <a:latin typeface="Arial"/>
                    <a:ea typeface="Microsoft YaHei"/>
                    <a:cs typeface="Arial"/>
                  </a:rPr>
                  <a:t>vLLM-Ascend </a:t>
                </a:r>
                <a:r>
                  <a:rPr lang="zh-CN" altLang="en-US" sz="1280" b="1" dirty="0">
                    <a:solidFill>
                      <a:srgbClr val="C7000B"/>
                    </a:solidFill>
                    <a:latin typeface="Arial"/>
                    <a:ea typeface="Microsoft YaHei"/>
                    <a:cs typeface="Arial"/>
                  </a:rPr>
                  <a:t>推理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5964968" y="3288506"/>
                <a:ext cx="833562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12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Prefill </a:t>
                </a:r>
                <a:r>
                  <a:rPr lang="zh-CN" altLang="en-US" sz="112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预填充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968976" y="3536156"/>
                <a:ext cx="825547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12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Decode </a:t>
                </a:r>
                <a:r>
                  <a:rPr lang="zh-CN" altLang="en-US" sz="112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解码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5920886" y="3783806"/>
                <a:ext cx="921727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12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MTP </a:t>
                </a:r>
                <a:r>
                  <a:rPr lang="zh-CN" altLang="en-US" sz="112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投机解码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775814" y="4172902"/>
                <a:ext cx="1211870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b="1" dirty="0">
                    <a:solidFill>
                      <a:srgbClr val="C7000B"/>
                    </a:solidFill>
                    <a:latin typeface="Arial"/>
                    <a:ea typeface="Microsoft YaHei"/>
                    <a:cs typeface="Arial"/>
                  </a:rPr>
                  <a:t>度量对象：输出精度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112445" y="4382452"/>
                <a:ext cx="538609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050" b="1" dirty="0">
                    <a:solidFill>
                      <a:srgbClr val="C7000B"/>
                    </a:solidFill>
                    <a:latin typeface="Arial"/>
                    <a:ea typeface="Microsoft YaHei"/>
                    <a:cs typeface="Arial"/>
                  </a:rPr>
                  <a:t>改进焦点</a:t>
                </a:r>
              </a:p>
            </p:txBody>
          </p:sp>
        </p:grpSp>
        <p:sp>
          <p:nvSpPr>
            <p:cNvPr id="62" name="Polygon 62"/>
            <p:cNvSpPr/>
            <p:nvPr/>
          </p:nvSpPr>
          <p:spPr>
            <a:xfrm>
              <a:off x="7477125" y="3238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715250" y="2000250"/>
              <a:ext cx="2095500" cy="2667000"/>
              <a:chOff x="7715250" y="2000250"/>
              <a:chExt cx="2095500" cy="26670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7715250" y="2000250"/>
                <a:ext cx="2095500" cy="2667000"/>
              </a:xfrm>
              <a:prstGeom prst="roundRect">
                <a:avLst>
                  <a:gd name="adj" fmla="val 2727"/>
                </a:avLst>
              </a:prstGeom>
              <a:solidFill>
                <a:srgbClr val="F5F5F7"/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7715250" y="2000250"/>
                <a:ext cx="2095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7715250" y="2362200"/>
                <a:ext cx="2095500" cy="5715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8411140" y="2114550"/>
                <a:ext cx="70371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O · </a:t>
                </a:r>
                <a:r>
                  <a:rPr lang="zh-CN" altLang="en-US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输出</a:t>
                </a:r>
              </a:p>
            </p:txBody>
          </p:sp>
          <p:grpSp>
            <p:nvGrpSpPr>
              <p:cNvPr id="70" name="Group 70"/>
              <p:cNvGrpSpPr/>
              <p:nvPr/>
            </p:nvGrpSpPr>
            <p:grpSpPr>
              <a:xfrm>
                <a:off x="8596312" y="2667000"/>
                <a:ext cx="257175" cy="242888"/>
                <a:chOff x="8596312" y="2667000"/>
                <a:chExt cx="257175" cy="242888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8667750" y="2738438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667750" y="2795588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8596312" y="2667000"/>
                  <a:ext cx="257175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42888">
                      <a:moveTo>
                        <a:pt x="214312" y="0"/>
                      </a:move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157162"/>
                      </a:lnTo>
                      <a:cubicBezTo>
                        <a:pt x="257175" y="180835"/>
                        <a:pt x="237985" y="200025"/>
                        <a:pt x="214312" y="200025"/>
                      </a:cubicBezTo>
                      <a:lnTo>
                        <a:pt x="142875" y="200025"/>
                      </a:lnTo>
                      <a:lnTo>
                        <a:pt x="71438" y="242888"/>
                      </a:lnTo>
                      <a:lnTo>
                        <a:pt x="71438" y="200025"/>
                      </a:lnTo>
                      <a:lnTo>
                        <a:pt x="42862" y="200025"/>
                      </a:lnTo>
                      <a:cubicBezTo>
                        <a:pt x="19190" y="200025"/>
                        <a:pt x="0" y="180835"/>
                        <a:pt x="0" y="157162"/>
                      </a:cubicBezTo>
                      <a:lnTo>
                        <a:pt x="0" y="42862"/>
                      </a:ln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8171492" y="3081814"/>
                <a:ext cx="1183016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推理 </a:t>
                </a:r>
                <a:r>
                  <a:rPr lang="en-US" altLang="zh-CN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token </a:t>
                </a:r>
                <a:r>
                  <a:rPr lang="zh-CN" altLang="en-US" sz="1280" b="1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输出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546594" y="3383756"/>
                <a:ext cx="432811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正确性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185919" y="3631406"/>
                <a:ext cx="1154162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一致性（无乱码）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546594" y="3879056"/>
                <a:ext cx="432811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稳定性</a:t>
                </a:r>
              </a:p>
            </p:txBody>
          </p:sp>
        </p:grpSp>
        <p:sp>
          <p:nvSpPr>
            <p:cNvPr id="76" name="Polygon 76"/>
            <p:cNvSpPr/>
            <p:nvPr/>
          </p:nvSpPr>
          <p:spPr>
            <a:xfrm>
              <a:off x="9858375" y="3238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10096500" y="2000250"/>
              <a:ext cx="1524000" cy="2667000"/>
              <a:chOff x="10096500" y="2000250"/>
              <a:chExt cx="1524000" cy="266700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10096500" y="2000250"/>
                <a:ext cx="1524000" cy="2667000"/>
              </a:xfrm>
              <a:prstGeom prst="roundRect">
                <a:avLst>
                  <a:gd name="adj" fmla="val 3750"/>
                </a:avLst>
              </a:prstGeom>
              <a:solidFill>
                <a:srgbClr val="F5F5F7"/>
              </a:solidFill>
              <a:ln>
                <a:noFill/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10096500" y="2000250"/>
                <a:ext cx="15240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10096500" y="2362200"/>
                <a:ext cx="1524000" cy="5715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10511449" y="2114550"/>
                <a:ext cx="69410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 · </a:t>
                </a:r>
                <a:r>
                  <a:rPr lang="zh-CN" altLang="en-US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客户</a:t>
                </a:r>
              </a:p>
            </p:txBody>
          </p:sp>
          <p:grpSp>
            <p:nvGrpSpPr>
              <p:cNvPr id="85" name="Group 85"/>
              <p:cNvGrpSpPr/>
              <p:nvPr/>
            </p:nvGrpSpPr>
            <p:grpSpPr>
              <a:xfrm>
                <a:off x="10691812" y="2652712"/>
                <a:ext cx="257175" cy="257176"/>
                <a:chOff x="10691812" y="2652712"/>
                <a:chExt cx="257175" cy="257176"/>
              </a:xfrm>
            </p:grpSpPr>
            <p:sp>
              <p:nvSpPr>
                <p:cNvPr id="81" name="Freeform 81"/>
                <p:cNvSpPr/>
                <p:nvPr/>
              </p:nvSpPr>
              <p:spPr>
                <a:xfrm>
                  <a:off x="10720388" y="2652712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10691812" y="2824162"/>
                  <a:ext cx="1714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14300" y="0"/>
                      </a:lnTo>
                      <a:cubicBezTo>
                        <a:pt x="145863" y="0"/>
                        <a:pt x="171450" y="25587"/>
                        <a:pt x="171450" y="57150"/>
                      </a:cubicBezTo>
                      <a:lnTo>
                        <a:pt x="171450" y="85725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10877550" y="2654570"/>
                  <a:ext cx="42975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75" h="110728">
                      <a:moveTo>
                        <a:pt x="0" y="0"/>
                      </a:moveTo>
                      <a:cubicBezTo>
                        <a:pt x="25288" y="6475"/>
                        <a:pt x="42975" y="29261"/>
                        <a:pt x="42975" y="55364"/>
                      </a:cubicBezTo>
                      <a:cubicBezTo>
                        <a:pt x="42975" y="81467"/>
                        <a:pt x="25288" y="104253"/>
                        <a:pt x="0" y="110728"/>
                      </a:cubicBez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10906125" y="2826306"/>
                  <a:ext cx="42862" cy="83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83582">
                      <a:moveTo>
                        <a:pt x="42862" y="83582"/>
                      </a:moveTo>
                      <a:lnTo>
                        <a:pt x="42862" y="55007"/>
                      </a:lnTo>
                      <a:cubicBezTo>
                        <a:pt x="42713" y="29069"/>
                        <a:pt x="25115" y="648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86" name="TextBox 86"/>
              <p:cNvSpPr txBox="1"/>
              <p:nvPr/>
            </p:nvSpPr>
            <p:spPr>
              <a:xfrm>
                <a:off x="10425689" y="3098006"/>
                <a:ext cx="865622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精度回归用例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0425689" y="3364706"/>
                <a:ext cx="865622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逐层比对工具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10425689" y="3631406"/>
                <a:ext cx="865622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12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现网客户反馈</a:t>
                </a:r>
              </a:p>
            </p:txBody>
          </p:sp>
        </p:grpSp>
      </p:grpSp>
      <p:grpSp>
        <p:nvGrpSpPr>
          <p:cNvPr id="96" name="Group 96"/>
          <p:cNvGrpSpPr/>
          <p:nvPr/>
        </p:nvGrpSpPr>
        <p:grpSpPr>
          <a:xfrm>
            <a:off x="573881" y="5143500"/>
            <a:ext cx="11049000" cy="571500"/>
            <a:chOff x="571500" y="5143500"/>
            <a:chExt cx="11049000" cy="571500"/>
          </a:xfrm>
        </p:grpSpPr>
        <p:sp>
          <p:nvSpPr>
            <p:cNvPr id="91" name="Rectangle 91"/>
            <p:cNvSpPr/>
            <p:nvPr/>
          </p:nvSpPr>
          <p:spPr>
            <a:xfrm>
              <a:off x="571500" y="5143500"/>
              <a:ext cx="11049000" cy="571500"/>
            </a:xfrm>
            <a:prstGeom prst="roundRect">
              <a:avLst>
                <a:gd name="adj" fmla="val 10000"/>
              </a:avLst>
            </a:prstGeom>
            <a:solidFill>
              <a:srgbClr val="FFF5F5"/>
            </a:solidFill>
            <a:ln w="14288">
              <a:solidFill>
                <a:srgbClr val="C7000B"/>
              </a:solidFill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95338" y="5329238"/>
              <a:ext cx="200026" cy="200026"/>
              <a:chOff x="795338" y="5329238"/>
              <a:chExt cx="200026" cy="200026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889794" y="5423694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0" y="5556"/>
                    </a:moveTo>
                    <a:cubicBezTo>
                      <a:pt x="0" y="8625"/>
                      <a:pt x="2488" y="11113"/>
                      <a:pt x="5556" y="11113"/>
                    </a:cubicBezTo>
                    <a:cubicBezTo>
                      <a:pt x="8625" y="11113"/>
                      <a:pt x="11113" y="8625"/>
                      <a:pt x="11113" y="5556"/>
                    </a:cubicBezTo>
                    <a:cubicBezTo>
                      <a:pt x="11113" y="2488"/>
                      <a:pt x="8625" y="0"/>
                      <a:pt x="5556" y="0"/>
                    </a:cubicBezTo>
                    <a:cubicBezTo>
                      <a:pt x="2488" y="0"/>
                      <a:pt x="0" y="2488"/>
                      <a:pt x="0" y="5556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795338" y="53292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125855" y="5359718"/>
              <a:ext cx="797333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改进焦点（</a:t>
              </a:r>
              <a:r>
                <a:rPr lang="en-US" alt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P</a:t>
              </a:r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）：</a:t>
              </a:r>
              <a:r>
                <a:rPr lang="en-US" alt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vLLM-Ascend </a:t>
              </a:r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推理过程输出精度</a:t>
              </a:r>
              <a:r>
                <a:rPr lang="en-US" alt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——S/I </a:t>
              </a:r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提供输入与边界，</a:t>
              </a:r>
              <a:r>
                <a:rPr lang="en-US" alt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O </a:t>
              </a:r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是度量对象，</a:t>
              </a:r>
              <a:r>
                <a:rPr lang="en-US" alt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C </a:t>
              </a:r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是验证方</a:t>
              </a:r>
            </a:p>
          </p:txBody>
        </p:sp>
      </p:grpSp>
      <p:sp>
        <p:nvSpPr>
          <p:cNvPr id="108" name="矩形 107">
            <a:extLst>
              <a:ext uri="{FF2B5EF4-FFF2-40B4-BE49-F238E27FC236}">
                <a16:creationId xmlns:a16="http://schemas.microsoft.com/office/drawing/2014/main" id="{34F4EB78-1384-FFBF-5E8D-E719417F9B7D}"/>
              </a:ext>
            </a:extLst>
          </p:cNvPr>
          <p:cNvSpPr/>
          <p:nvPr/>
        </p:nvSpPr>
        <p:spPr>
          <a:xfrm>
            <a:off x="7453420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部门短板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AF51F6D-9927-92D2-893F-B166EB273BB5}"/>
              </a:ext>
            </a:extLst>
          </p:cNvPr>
          <p:cNvSpPr/>
          <p:nvPr/>
        </p:nvSpPr>
        <p:spPr>
          <a:xfrm>
            <a:off x="8594156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选定主题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C65A0A96-180B-4B9D-8F0A-52F1C19CC503}"/>
              </a:ext>
            </a:extLst>
          </p:cNvPr>
          <p:cNvSpPr/>
          <p:nvPr/>
        </p:nvSpPr>
        <p:spPr>
          <a:xfrm>
            <a:off x="9734892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把握现状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49509053-4216-F05E-8C19-06B5BADEC5A5}"/>
              </a:ext>
            </a:extLst>
          </p:cNvPr>
          <p:cNvSpPr/>
          <p:nvPr/>
        </p:nvSpPr>
        <p:spPr>
          <a:xfrm>
            <a:off x="10875628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73881" y="383217"/>
            <a:ext cx="8149279" cy="484748"/>
            <a:chOff x="571500" y="383217"/>
            <a:chExt cx="8149279" cy="484748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3810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8970" y="383217"/>
              <a:ext cx="8011809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8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局点现网精度问题全景，覆盖多模型多形态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0575" y="1291989"/>
            <a:ext cx="3737241" cy="186642"/>
            <a:chOff x="788194" y="1454944"/>
            <a:chExt cx="3737241" cy="186642"/>
          </a:xfrm>
        </p:grpSpPr>
        <p:grpSp>
          <p:nvGrpSpPr>
            <p:cNvPr id="17" name="Group 17"/>
            <p:cNvGrpSpPr/>
            <p:nvPr/>
          </p:nvGrpSpPr>
          <p:grpSpPr>
            <a:xfrm>
              <a:off x="788194" y="1472406"/>
              <a:ext cx="157162" cy="130970"/>
              <a:chOff x="788194" y="1472406"/>
              <a:chExt cx="157162" cy="13097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40581" y="147240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34925"/>
                    </a:move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ubicBezTo>
                      <a:pt x="40660" y="0"/>
                      <a:pt x="52388" y="11727"/>
                      <a:pt x="52388" y="26194"/>
                    </a:cubicBezTo>
                    <a:lnTo>
                      <a:pt x="52388" y="34925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23119" y="1507331"/>
                <a:ext cx="87313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96044">
                    <a:moveTo>
                      <a:pt x="8731" y="0"/>
                    </a:moveTo>
                    <a:lnTo>
                      <a:pt x="78581" y="0"/>
                    </a:lnTo>
                    <a:cubicBezTo>
                      <a:pt x="83782" y="7793"/>
                      <a:pt x="86797" y="16839"/>
                      <a:pt x="87313" y="26194"/>
                    </a:cubicBezTo>
                    <a:lnTo>
                      <a:pt x="87313" y="52388"/>
                    </a:lnTo>
                    <a:cubicBezTo>
                      <a:pt x="87313" y="76498"/>
                      <a:pt x="67767" y="96044"/>
                      <a:pt x="43656" y="96044"/>
                    </a:cubicBezTo>
                    <a:cubicBezTo>
                      <a:pt x="19546" y="96044"/>
                      <a:pt x="0" y="76498"/>
                      <a:pt x="0" y="52388"/>
                    </a:cubicBezTo>
                    <a:lnTo>
                      <a:pt x="0" y="26194"/>
                    </a:lnTo>
                    <a:cubicBezTo>
                      <a:pt x="516" y="16839"/>
                      <a:pt x="3531" y="7793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88194" y="15422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0431" y="15422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66775" y="1550988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96925" y="15771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0" y="17463"/>
                    </a:moveTo>
                    <a:lnTo>
                      <a:pt x="2925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7375" y="15771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29250" y="1746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96925" y="14898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0" y="0"/>
                    </a:moveTo>
                    <a:lnTo>
                      <a:pt x="32742" y="20955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03883" y="14898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32742" y="0"/>
                    </a:moveTo>
                    <a:lnTo>
                      <a:pt x="0" y="20955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33462" y="1469231"/>
              <a:ext cx="1418658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有精度问题（</a:t>
              </a:r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7 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局点）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2693194" y="1454944"/>
              <a:ext cx="157163" cy="157163"/>
              <a:chOff x="2693194" y="1454944"/>
              <a:chExt cx="157163" cy="15716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2693194" y="14549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52C41A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745581" y="15160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52C41A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938462" y="1469231"/>
              <a:ext cx="1586973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无精度问题（对照基准）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3881" y="1646795"/>
            <a:ext cx="2667000" cy="1714500"/>
            <a:chOff x="571500" y="1809750"/>
            <a:chExt cx="2667000" cy="1714500"/>
          </a:xfrm>
        </p:grpSpPr>
        <p:sp>
          <p:nvSpPr>
            <p:cNvPr id="25" name="Rectangle 25"/>
            <p:cNvSpPr/>
            <p:nvPr/>
          </p:nvSpPr>
          <p:spPr>
            <a:xfrm>
              <a:off x="571500" y="1809750"/>
              <a:ext cx="2667000" cy="1714500"/>
            </a:xfrm>
            <a:prstGeom prst="roundRect">
              <a:avLst>
                <a:gd name="adj" fmla="val 4444"/>
              </a:avLst>
            </a:prstGeom>
            <a:solidFill>
              <a:srgbClr val="FFF5F5"/>
            </a:solidFill>
            <a:ln w="9525">
              <a:solidFill>
                <a:srgbClr val="FCCCC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1809750"/>
              <a:ext cx="2667000" cy="47625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71525" y="2047875"/>
              <a:ext cx="171450" cy="142875"/>
              <a:chOff x="771525" y="2047875"/>
              <a:chExt cx="171450" cy="14287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28675" y="20478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3810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3810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09625" y="2085975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>
                    <a:moveTo>
                      <a:pt x="9525" y="0"/>
                    </a:moveTo>
                    <a:lnTo>
                      <a:pt x="85725" y="0"/>
                    </a:lnTo>
                    <a:cubicBezTo>
                      <a:pt x="91398" y="8502"/>
                      <a:pt x="94687" y="18370"/>
                      <a:pt x="95250" y="28575"/>
                    </a:cubicBezTo>
                    <a:lnTo>
                      <a:pt x="95250" y="57150"/>
                    </a:lnTo>
                    <a:cubicBezTo>
                      <a:pt x="95250" y="83453"/>
                      <a:pt x="73928" y="104775"/>
                      <a:pt x="47625" y="104775"/>
                    </a:cubicBezTo>
                    <a:cubicBezTo>
                      <a:pt x="21322" y="104775"/>
                      <a:pt x="0" y="83453"/>
                      <a:pt x="0" y="57150"/>
                    </a:cubicBezTo>
                    <a:lnTo>
                      <a:pt x="0" y="28575"/>
                    </a:lnTo>
                    <a:cubicBezTo>
                      <a:pt x="563" y="18370"/>
                      <a:pt x="3852" y="8502"/>
                      <a:pt x="9525" y="0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1525" y="2124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04875" y="2124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57250" y="21336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81050" y="2162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0" y="19050"/>
                    </a:moveTo>
                    <a:lnTo>
                      <a:pt x="31909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01541" y="2162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31909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81050" y="2066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0" y="0"/>
                    </a:moveTo>
                    <a:lnTo>
                      <a:pt x="35719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97731" y="2066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35719" y="0"/>
                    </a:moveTo>
                    <a:lnTo>
                      <a:pt x="0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28700" y="2028825"/>
              <a:ext cx="3847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美的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8662" y="2374106"/>
              <a:ext cx="1170192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GLM5.1 · A3 · 4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机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42950" y="262890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FCCCC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7710" y="2766060"/>
              <a:ext cx="10772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乱码、答非所问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9615" y="3048952"/>
              <a:ext cx="148277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关 </a:t>
              </a:r>
              <a:r>
                <a:rPr lang="en-US" altLang="zh-CN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PrefixCache </a:t>
              </a:r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仍有问题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9615" y="3258502"/>
              <a:ext cx="106439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PR8890 </a:t>
              </a:r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也有问题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383756" y="1646795"/>
            <a:ext cx="2667000" cy="1714500"/>
            <a:chOff x="3381375" y="1809750"/>
            <a:chExt cx="2667000" cy="1714500"/>
          </a:xfrm>
        </p:grpSpPr>
        <p:sp>
          <p:nvSpPr>
            <p:cNvPr id="44" name="Rectangle 44"/>
            <p:cNvSpPr/>
            <p:nvPr/>
          </p:nvSpPr>
          <p:spPr>
            <a:xfrm>
              <a:off x="3381375" y="1809750"/>
              <a:ext cx="2667000" cy="1714500"/>
            </a:xfrm>
            <a:prstGeom prst="roundRect">
              <a:avLst>
                <a:gd name="adj" fmla="val 4444"/>
              </a:avLst>
            </a:prstGeom>
            <a:solidFill>
              <a:srgbClr val="FFF5F5"/>
            </a:solidFill>
            <a:ln w="9525">
              <a:solidFill>
                <a:srgbClr val="FCCCC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381375" y="1809750"/>
              <a:ext cx="2667000" cy="47625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3581400" y="2047875"/>
              <a:ext cx="171450" cy="142875"/>
              <a:chOff x="3581400" y="2047875"/>
              <a:chExt cx="171450" cy="14287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3638550" y="20478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3810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3810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3619500" y="2085975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>
                    <a:moveTo>
                      <a:pt x="9525" y="0"/>
                    </a:moveTo>
                    <a:lnTo>
                      <a:pt x="85725" y="0"/>
                    </a:lnTo>
                    <a:cubicBezTo>
                      <a:pt x="91398" y="8502"/>
                      <a:pt x="94687" y="18370"/>
                      <a:pt x="95250" y="28575"/>
                    </a:cubicBezTo>
                    <a:lnTo>
                      <a:pt x="95250" y="57150"/>
                    </a:lnTo>
                    <a:cubicBezTo>
                      <a:pt x="95250" y="83453"/>
                      <a:pt x="73928" y="104775"/>
                      <a:pt x="47625" y="104775"/>
                    </a:cubicBezTo>
                    <a:cubicBezTo>
                      <a:pt x="21322" y="104775"/>
                      <a:pt x="0" y="83453"/>
                      <a:pt x="0" y="57150"/>
                    </a:cubicBezTo>
                    <a:lnTo>
                      <a:pt x="0" y="28575"/>
                    </a:lnTo>
                    <a:cubicBezTo>
                      <a:pt x="563" y="18370"/>
                      <a:pt x="3852" y="8502"/>
                      <a:pt x="9525" y="0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3581400" y="2124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714750" y="2124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667125" y="21336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590925" y="2162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0" y="19050"/>
                    </a:moveTo>
                    <a:lnTo>
                      <a:pt x="31909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711416" y="2162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31909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590925" y="2066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0" y="0"/>
                    </a:moveTo>
                    <a:lnTo>
                      <a:pt x="35719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707606" y="2066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35719" y="0"/>
                    </a:moveTo>
                    <a:lnTo>
                      <a:pt x="0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3838575" y="2028825"/>
              <a:ext cx="7694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南方电网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538538" y="2374106"/>
              <a:ext cx="1490793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GLM5.1 · 800I A2 · 8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机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3552825" y="262890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FCCCC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537585" y="2766060"/>
              <a:ext cx="10772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重计算后必乱码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39490" y="3048952"/>
              <a:ext cx="78547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2 </a:t>
              </a:r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天复现一次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539490" y="3258502"/>
              <a:ext cx="128881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乱码前有超长 </a:t>
              </a:r>
              <a:r>
                <a:rPr lang="en-US" altLang="zh-CN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decode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193631" y="1646795"/>
            <a:ext cx="2667000" cy="1714500"/>
            <a:chOff x="6191250" y="1809750"/>
            <a:chExt cx="2667000" cy="1714500"/>
          </a:xfrm>
        </p:grpSpPr>
        <p:sp>
          <p:nvSpPr>
            <p:cNvPr id="63" name="Rectangle 63"/>
            <p:cNvSpPr/>
            <p:nvPr/>
          </p:nvSpPr>
          <p:spPr>
            <a:xfrm>
              <a:off x="6191250" y="1809750"/>
              <a:ext cx="2667000" cy="1714500"/>
            </a:xfrm>
            <a:prstGeom prst="roundRect">
              <a:avLst>
                <a:gd name="adj" fmla="val 4444"/>
              </a:avLst>
            </a:prstGeom>
            <a:solidFill>
              <a:srgbClr val="FFF5F5"/>
            </a:solidFill>
            <a:ln w="9525">
              <a:solidFill>
                <a:srgbClr val="FCCCCC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191250" y="1809750"/>
              <a:ext cx="2667000" cy="47625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391275" y="2047875"/>
              <a:ext cx="171450" cy="142875"/>
              <a:chOff x="6391275" y="2047875"/>
              <a:chExt cx="171450" cy="14287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448425" y="20478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3810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3810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429375" y="2085975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>
                    <a:moveTo>
                      <a:pt x="9525" y="0"/>
                    </a:moveTo>
                    <a:lnTo>
                      <a:pt x="85725" y="0"/>
                    </a:lnTo>
                    <a:cubicBezTo>
                      <a:pt x="91398" y="8502"/>
                      <a:pt x="94687" y="18370"/>
                      <a:pt x="95250" y="28575"/>
                    </a:cubicBezTo>
                    <a:lnTo>
                      <a:pt x="95250" y="57150"/>
                    </a:lnTo>
                    <a:cubicBezTo>
                      <a:pt x="95250" y="83453"/>
                      <a:pt x="73928" y="104775"/>
                      <a:pt x="47625" y="104775"/>
                    </a:cubicBezTo>
                    <a:cubicBezTo>
                      <a:pt x="21322" y="104775"/>
                      <a:pt x="0" y="83453"/>
                      <a:pt x="0" y="57150"/>
                    </a:cubicBezTo>
                    <a:lnTo>
                      <a:pt x="0" y="28575"/>
                    </a:lnTo>
                    <a:cubicBezTo>
                      <a:pt x="563" y="18370"/>
                      <a:pt x="3852" y="8502"/>
                      <a:pt x="9525" y="0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391275" y="2124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24625" y="2124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477000" y="21336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400800" y="2162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0" y="19050"/>
                    </a:moveTo>
                    <a:lnTo>
                      <a:pt x="31909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21291" y="2162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31909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400800" y="2066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0" y="0"/>
                    </a:moveTo>
                    <a:lnTo>
                      <a:pt x="35719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517481" y="2066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35719" y="0"/>
                    </a:moveTo>
                    <a:lnTo>
                      <a:pt x="0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648450" y="2028825"/>
              <a:ext cx="57708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天翼云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348412" y="2374106"/>
              <a:ext cx="1049967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GLM5/5.1 · 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混部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6362700" y="262890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FCCCCC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47460" y="2766060"/>
              <a:ext cx="140102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英文 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100% 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中英混杂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349365" y="3048952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毫无逻辑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349365" y="3258502"/>
              <a:ext cx="107721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智谱同方法未复现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003507" y="1646795"/>
            <a:ext cx="2619375" cy="1714500"/>
            <a:chOff x="9001125" y="1809750"/>
            <a:chExt cx="2619375" cy="1714500"/>
          </a:xfrm>
        </p:grpSpPr>
        <p:sp>
          <p:nvSpPr>
            <p:cNvPr id="82" name="Rectangle 82"/>
            <p:cNvSpPr/>
            <p:nvPr/>
          </p:nvSpPr>
          <p:spPr>
            <a:xfrm>
              <a:off x="9001125" y="1809750"/>
              <a:ext cx="2619375" cy="1714500"/>
            </a:xfrm>
            <a:prstGeom prst="roundRect">
              <a:avLst>
                <a:gd name="adj" fmla="val 4444"/>
              </a:avLst>
            </a:prstGeom>
            <a:solidFill>
              <a:srgbClr val="FFF5F5"/>
            </a:solidFill>
            <a:ln w="9525">
              <a:solidFill>
                <a:srgbClr val="FCCCCC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9001125" y="1809750"/>
              <a:ext cx="2619375" cy="47625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9201150" y="2047875"/>
              <a:ext cx="171450" cy="142875"/>
              <a:chOff x="9201150" y="2047875"/>
              <a:chExt cx="171450" cy="142875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9258300" y="20478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3810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3810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9239250" y="2085975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>
                    <a:moveTo>
                      <a:pt x="9525" y="0"/>
                    </a:moveTo>
                    <a:lnTo>
                      <a:pt x="85725" y="0"/>
                    </a:lnTo>
                    <a:cubicBezTo>
                      <a:pt x="91398" y="8502"/>
                      <a:pt x="94687" y="18370"/>
                      <a:pt x="95250" y="28575"/>
                    </a:cubicBezTo>
                    <a:lnTo>
                      <a:pt x="95250" y="57150"/>
                    </a:lnTo>
                    <a:cubicBezTo>
                      <a:pt x="95250" y="83453"/>
                      <a:pt x="73928" y="104775"/>
                      <a:pt x="47625" y="104775"/>
                    </a:cubicBezTo>
                    <a:cubicBezTo>
                      <a:pt x="21322" y="104775"/>
                      <a:pt x="0" y="83453"/>
                      <a:pt x="0" y="57150"/>
                    </a:cubicBezTo>
                    <a:lnTo>
                      <a:pt x="0" y="28575"/>
                    </a:lnTo>
                    <a:cubicBezTo>
                      <a:pt x="563" y="18370"/>
                      <a:pt x="3852" y="8502"/>
                      <a:pt x="9525" y="0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201150" y="2124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334500" y="2124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9286875" y="21336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9210675" y="2162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0" y="19050"/>
                    </a:moveTo>
                    <a:lnTo>
                      <a:pt x="31909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9331166" y="2162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31909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9210675" y="2066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0" y="0"/>
                    </a:moveTo>
                    <a:lnTo>
                      <a:pt x="35719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9327356" y="2066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35719" y="0"/>
                    </a:moveTo>
                    <a:lnTo>
                      <a:pt x="0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9458325" y="2028825"/>
              <a:ext cx="7694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中信银行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158288" y="2374106"/>
              <a:ext cx="1009892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DSv4-flash · A3</a:t>
              </a:r>
            </a:p>
          </p:txBody>
        </p:sp>
        <p:sp>
          <p:nvSpPr>
            <p:cNvPr id="96" name="Line 96"/>
            <p:cNvSpPr/>
            <p:nvPr/>
          </p:nvSpPr>
          <p:spPr>
            <a:xfrm>
              <a:off x="9172575" y="2628900"/>
              <a:ext cx="2276475" cy="9525"/>
            </a:xfrm>
            <a:custGeom>
              <a:avLst/>
              <a:gdLst/>
              <a:ahLst/>
              <a:cxnLst/>
              <a:rect l="l" t="t" r="r" b="b"/>
              <a:pathLst>
                <a:path w="2276475" h="9525">
                  <a:moveTo>
                    <a:pt x="0" y="0"/>
                  </a:moveTo>
                  <a:lnTo>
                    <a:pt x="2276475" y="0"/>
                  </a:lnTo>
                </a:path>
              </a:pathLst>
            </a:custGeom>
            <a:noFill/>
            <a:ln w="9525">
              <a:solidFill>
                <a:srgbClr val="FCCCCC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157335" y="2766060"/>
              <a:ext cx="113537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偶现 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DSML 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泄漏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159240" y="3048952"/>
              <a:ext cx="107721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偶现请求回答乱码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573881" y="3551795"/>
            <a:ext cx="2667000" cy="1714500"/>
            <a:chOff x="571500" y="3714750"/>
            <a:chExt cx="2667000" cy="1714500"/>
          </a:xfrm>
        </p:grpSpPr>
        <p:sp>
          <p:nvSpPr>
            <p:cNvPr id="100" name="Rectangle 100"/>
            <p:cNvSpPr/>
            <p:nvPr/>
          </p:nvSpPr>
          <p:spPr>
            <a:xfrm>
              <a:off x="571500" y="3714750"/>
              <a:ext cx="2667000" cy="1714500"/>
            </a:xfrm>
            <a:prstGeom prst="roundRect">
              <a:avLst>
                <a:gd name="adj" fmla="val 4444"/>
              </a:avLst>
            </a:prstGeom>
            <a:solidFill>
              <a:srgbClr val="FFF5F5"/>
            </a:solidFill>
            <a:ln w="9525">
              <a:solidFill>
                <a:srgbClr val="FCCCCC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571500" y="3714750"/>
              <a:ext cx="2667000" cy="47625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771525" y="3952875"/>
              <a:ext cx="171450" cy="142875"/>
              <a:chOff x="771525" y="3952875"/>
              <a:chExt cx="171450" cy="142875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828675" y="39528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3810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3810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09625" y="3990975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>
                    <a:moveTo>
                      <a:pt x="9525" y="0"/>
                    </a:moveTo>
                    <a:lnTo>
                      <a:pt x="85725" y="0"/>
                    </a:lnTo>
                    <a:cubicBezTo>
                      <a:pt x="91398" y="8502"/>
                      <a:pt x="94687" y="18370"/>
                      <a:pt x="95250" y="28575"/>
                    </a:cubicBezTo>
                    <a:lnTo>
                      <a:pt x="95250" y="57150"/>
                    </a:lnTo>
                    <a:cubicBezTo>
                      <a:pt x="95250" y="83453"/>
                      <a:pt x="73928" y="104775"/>
                      <a:pt x="47625" y="104775"/>
                    </a:cubicBezTo>
                    <a:cubicBezTo>
                      <a:pt x="21322" y="104775"/>
                      <a:pt x="0" y="83453"/>
                      <a:pt x="0" y="57150"/>
                    </a:cubicBezTo>
                    <a:lnTo>
                      <a:pt x="0" y="28575"/>
                    </a:lnTo>
                    <a:cubicBezTo>
                      <a:pt x="563" y="18370"/>
                      <a:pt x="3852" y="8502"/>
                      <a:pt x="9525" y="0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771525" y="4029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904875" y="4029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57250" y="40386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781050" y="4067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0" y="19050"/>
                    </a:moveTo>
                    <a:lnTo>
                      <a:pt x="31909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901541" y="4067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31909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781050" y="3971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0" y="0"/>
                    </a:moveTo>
                    <a:lnTo>
                      <a:pt x="35719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897731" y="3971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35719" y="0"/>
                    </a:moveTo>
                    <a:lnTo>
                      <a:pt x="0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1028700" y="3933825"/>
              <a:ext cx="3847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蚂蚁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28662" y="4279106"/>
              <a:ext cx="1306448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GLM5.1 · A3 · P2D2</a:t>
              </a:r>
            </a:p>
          </p:txBody>
        </p:sp>
        <p:sp>
          <p:nvSpPr>
            <p:cNvPr id="114" name="Line 114"/>
            <p:cNvSpPr/>
            <p:nvPr/>
          </p:nvSpPr>
          <p:spPr>
            <a:xfrm>
              <a:off x="742950" y="453390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FCCCCC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727710" y="4671060"/>
              <a:ext cx="14394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长序列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/tool call 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乱码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29615" y="4953952"/>
              <a:ext cx="130965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0.18.0 PD </a:t>
              </a:r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分离有问题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29615" y="5163502"/>
              <a:ext cx="108523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混部无、</a:t>
              </a:r>
              <a:r>
                <a:rPr lang="en-US" altLang="zh-CN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0.20.2 </a:t>
              </a:r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无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3383756" y="3551795"/>
            <a:ext cx="2667000" cy="1714500"/>
            <a:chOff x="3381375" y="3714750"/>
            <a:chExt cx="2667000" cy="1714500"/>
          </a:xfrm>
        </p:grpSpPr>
        <p:sp>
          <p:nvSpPr>
            <p:cNvPr id="119" name="Rectangle 119"/>
            <p:cNvSpPr/>
            <p:nvPr/>
          </p:nvSpPr>
          <p:spPr>
            <a:xfrm>
              <a:off x="3381375" y="3714750"/>
              <a:ext cx="2667000" cy="1714500"/>
            </a:xfrm>
            <a:prstGeom prst="roundRect">
              <a:avLst>
                <a:gd name="adj" fmla="val 4444"/>
              </a:avLst>
            </a:prstGeom>
            <a:solidFill>
              <a:srgbClr val="FFF5F5"/>
            </a:solidFill>
            <a:ln w="9525">
              <a:solidFill>
                <a:srgbClr val="FCCCCC"/>
              </a:solidFill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3381375" y="3714750"/>
              <a:ext cx="2667000" cy="47625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grpSp>
          <p:nvGrpSpPr>
            <p:cNvPr id="130" name="Group 130"/>
            <p:cNvGrpSpPr/>
            <p:nvPr/>
          </p:nvGrpSpPr>
          <p:grpSpPr>
            <a:xfrm>
              <a:off x="3581400" y="3952875"/>
              <a:ext cx="171450" cy="142875"/>
              <a:chOff x="3581400" y="3952875"/>
              <a:chExt cx="171450" cy="142875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3638550" y="39528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3810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3810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3619500" y="3990975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>
                    <a:moveTo>
                      <a:pt x="9525" y="0"/>
                    </a:moveTo>
                    <a:lnTo>
                      <a:pt x="85725" y="0"/>
                    </a:lnTo>
                    <a:cubicBezTo>
                      <a:pt x="91398" y="8502"/>
                      <a:pt x="94687" y="18370"/>
                      <a:pt x="95250" y="28575"/>
                    </a:cubicBezTo>
                    <a:lnTo>
                      <a:pt x="95250" y="57150"/>
                    </a:lnTo>
                    <a:cubicBezTo>
                      <a:pt x="95250" y="83453"/>
                      <a:pt x="73928" y="104775"/>
                      <a:pt x="47625" y="104775"/>
                    </a:cubicBezTo>
                    <a:cubicBezTo>
                      <a:pt x="21322" y="104775"/>
                      <a:pt x="0" y="83453"/>
                      <a:pt x="0" y="57150"/>
                    </a:cubicBezTo>
                    <a:lnTo>
                      <a:pt x="0" y="28575"/>
                    </a:lnTo>
                    <a:cubicBezTo>
                      <a:pt x="563" y="18370"/>
                      <a:pt x="3852" y="8502"/>
                      <a:pt x="9525" y="0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3581400" y="4029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3714750" y="4029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3667125" y="40386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3590925" y="4067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0" y="19050"/>
                    </a:moveTo>
                    <a:lnTo>
                      <a:pt x="31909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3711416" y="4067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31909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3590925" y="3971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0" y="0"/>
                    </a:moveTo>
                    <a:lnTo>
                      <a:pt x="35719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29" name="Freeform 129"/>
              <p:cNvSpPr/>
              <p:nvPr/>
            </p:nvSpPr>
            <p:spPr>
              <a:xfrm>
                <a:off x="3707606" y="3971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35719" y="0"/>
                    </a:moveTo>
                    <a:lnTo>
                      <a:pt x="0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131" name="TextBox 131"/>
            <p:cNvSpPr txBox="1"/>
            <p:nvPr/>
          </p:nvSpPr>
          <p:spPr>
            <a:xfrm>
              <a:off x="3838575" y="3933825"/>
              <a:ext cx="7694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平安银行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3538538" y="4279106"/>
              <a:ext cx="1049967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GLM5 · A2 · 8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机</a:t>
              </a:r>
            </a:p>
          </p:txBody>
        </p:sp>
        <p:sp>
          <p:nvSpPr>
            <p:cNvPr id="133" name="Line 133"/>
            <p:cNvSpPr/>
            <p:nvPr/>
          </p:nvSpPr>
          <p:spPr>
            <a:xfrm>
              <a:off x="3552825" y="453390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FCCCCC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3537585" y="4671060"/>
              <a:ext cx="15997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对接 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ClaudeCode 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重复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3539490" y="4953952"/>
              <a:ext cx="94256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重新请求又正常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6193631" y="3551795"/>
            <a:ext cx="2667000" cy="1714500"/>
            <a:chOff x="6191250" y="3714750"/>
            <a:chExt cx="2667000" cy="1714500"/>
          </a:xfrm>
        </p:grpSpPr>
        <p:sp>
          <p:nvSpPr>
            <p:cNvPr id="137" name="Rectangle 137"/>
            <p:cNvSpPr/>
            <p:nvPr/>
          </p:nvSpPr>
          <p:spPr>
            <a:xfrm>
              <a:off x="6191250" y="3714750"/>
              <a:ext cx="2667000" cy="1714500"/>
            </a:xfrm>
            <a:prstGeom prst="roundRect">
              <a:avLst>
                <a:gd name="adj" fmla="val 4444"/>
              </a:avLst>
            </a:prstGeom>
            <a:solidFill>
              <a:srgbClr val="FFF5F5"/>
            </a:solidFill>
            <a:ln w="9525">
              <a:solidFill>
                <a:srgbClr val="FCCCCC"/>
              </a:solidFill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6191250" y="3714750"/>
              <a:ext cx="2667000" cy="47625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grpSp>
          <p:nvGrpSpPr>
            <p:cNvPr id="148" name="Group 148"/>
            <p:cNvGrpSpPr/>
            <p:nvPr/>
          </p:nvGrpSpPr>
          <p:grpSpPr>
            <a:xfrm>
              <a:off x="6391275" y="3952875"/>
              <a:ext cx="171450" cy="142875"/>
              <a:chOff x="6391275" y="3952875"/>
              <a:chExt cx="171450" cy="142875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6448425" y="39528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3810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3810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40" name="Freeform 140"/>
              <p:cNvSpPr/>
              <p:nvPr/>
            </p:nvSpPr>
            <p:spPr>
              <a:xfrm>
                <a:off x="6429375" y="3990975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>
                    <a:moveTo>
                      <a:pt x="9525" y="0"/>
                    </a:moveTo>
                    <a:lnTo>
                      <a:pt x="85725" y="0"/>
                    </a:lnTo>
                    <a:cubicBezTo>
                      <a:pt x="91398" y="8502"/>
                      <a:pt x="94687" y="18370"/>
                      <a:pt x="95250" y="28575"/>
                    </a:cubicBezTo>
                    <a:lnTo>
                      <a:pt x="95250" y="57150"/>
                    </a:lnTo>
                    <a:cubicBezTo>
                      <a:pt x="95250" y="83453"/>
                      <a:pt x="73928" y="104775"/>
                      <a:pt x="47625" y="104775"/>
                    </a:cubicBezTo>
                    <a:cubicBezTo>
                      <a:pt x="21322" y="104775"/>
                      <a:pt x="0" y="83453"/>
                      <a:pt x="0" y="57150"/>
                    </a:cubicBezTo>
                    <a:lnTo>
                      <a:pt x="0" y="28575"/>
                    </a:lnTo>
                    <a:cubicBezTo>
                      <a:pt x="563" y="18370"/>
                      <a:pt x="3852" y="8502"/>
                      <a:pt x="9525" y="0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6391275" y="4029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42" name="Freeform 142"/>
              <p:cNvSpPr/>
              <p:nvPr/>
            </p:nvSpPr>
            <p:spPr>
              <a:xfrm>
                <a:off x="6524625" y="4029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43" name="Freeform 143"/>
              <p:cNvSpPr/>
              <p:nvPr/>
            </p:nvSpPr>
            <p:spPr>
              <a:xfrm>
                <a:off x="6477000" y="40386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44" name="Freeform 144"/>
              <p:cNvSpPr/>
              <p:nvPr/>
            </p:nvSpPr>
            <p:spPr>
              <a:xfrm>
                <a:off x="6400800" y="4067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0" y="19050"/>
                    </a:moveTo>
                    <a:lnTo>
                      <a:pt x="31909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45" name="Freeform 145"/>
              <p:cNvSpPr/>
              <p:nvPr/>
            </p:nvSpPr>
            <p:spPr>
              <a:xfrm>
                <a:off x="6521291" y="406717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31909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46" name="Freeform 146"/>
              <p:cNvSpPr/>
              <p:nvPr/>
            </p:nvSpPr>
            <p:spPr>
              <a:xfrm>
                <a:off x="6400800" y="3971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0" y="0"/>
                    </a:moveTo>
                    <a:lnTo>
                      <a:pt x="35719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6517481" y="397192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35719" y="0"/>
                    </a:moveTo>
                    <a:lnTo>
                      <a:pt x="0" y="2286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149" name="TextBox 149"/>
            <p:cNvSpPr txBox="1"/>
            <p:nvPr/>
          </p:nvSpPr>
          <p:spPr>
            <a:xfrm>
              <a:off x="6648450" y="3933825"/>
              <a:ext cx="137698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华为流程</a:t>
              </a:r>
              <a:r>
                <a:rPr lang="en-US" altLang="zh-CN" sz="15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IT/</a:t>
              </a:r>
              <a:r>
                <a:rPr lang="zh-CN" altLang="en-US" sz="15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财经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6348412" y="4279106"/>
              <a:ext cx="1357744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GLM5 · A2 · 40+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实例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6362700" y="453390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FCCCCC"/>
              </a:solidFill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6347460" y="4671060"/>
              <a:ext cx="132773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PD+MTP 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重复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乱码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6349365" y="4953952"/>
              <a:ext cx="108523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日均 </a:t>
              </a:r>
              <a:r>
                <a:rPr lang="en-US" altLang="zh-CN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19.21 </a:t>
              </a:r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万访问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6349365" y="5163502"/>
              <a:ext cx="67326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大规模暴露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9003507" y="3551795"/>
            <a:ext cx="2619375" cy="1714500"/>
            <a:chOff x="9001125" y="3714750"/>
            <a:chExt cx="2619375" cy="1714500"/>
          </a:xfrm>
        </p:grpSpPr>
        <p:sp>
          <p:nvSpPr>
            <p:cNvPr id="156" name="Rectangle 156"/>
            <p:cNvSpPr/>
            <p:nvPr/>
          </p:nvSpPr>
          <p:spPr>
            <a:xfrm>
              <a:off x="9001125" y="3714750"/>
              <a:ext cx="2619375" cy="1714500"/>
            </a:xfrm>
            <a:prstGeom prst="roundRect">
              <a:avLst>
                <a:gd name="adj" fmla="val 4444"/>
              </a:avLst>
            </a:prstGeom>
            <a:solidFill>
              <a:srgbClr val="F0F9EB"/>
            </a:solidFill>
            <a:ln w="9525">
              <a:solidFill>
                <a:srgbClr val="B7EB8F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9001125" y="3714750"/>
              <a:ext cx="2619375" cy="47625"/>
            </a:xfrm>
            <a:prstGeom prst="rect">
              <a:avLst/>
            </a:prstGeom>
            <a:solidFill>
              <a:srgbClr val="52C41A"/>
            </a:solidFill>
            <a:ln>
              <a:noFill/>
            </a:ln>
          </p:spPr>
        </p:sp>
        <p:grpSp>
          <p:nvGrpSpPr>
            <p:cNvPr id="160" name="Group 160"/>
            <p:cNvGrpSpPr/>
            <p:nvPr/>
          </p:nvGrpSpPr>
          <p:grpSpPr>
            <a:xfrm>
              <a:off x="9201150" y="3933825"/>
              <a:ext cx="171450" cy="171450"/>
              <a:chOff x="9201150" y="3933825"/>
              <a:chExt cx="171450" cy="17145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9201150" y="39338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52C41A"/>
                </a:solidFill>
              </a:ln>
            </p:spPr>
          </p:sp>
          <p:sp>
            <p:nvSpPr>
              <p:cNvPr id="159" name="Freeform 159"/>
              <p:cNvSpPr/>
              <p:nvPr/>
            </p:nvSpPr>
            <p:spPr>
              <a:xfrm>
                <a:off x="9258300" y="40005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52C41A"/>
                </a:solidFill>
              </a:ln>
            </p:spPr>
          </p:sp>
        </p:grpSp>
        <p:sp>
          <p:nvSpPr>
            <p:cNvPr id="161" name="TextBox 161"/>
            <p:cNvSpPr txBox="1"/>
            <p:nvPr/>
          </p:nvSpPr>
          <p:spPr>
            <a:xfrm>
              <a:off x="9458325" y="3933825"/>
              <a:ext cx="115416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智谱（对照）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9158288" y="4279106"/>
              <a:ext cx="1130118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GLM5 · A3 · 16</a:t>
              </a:r>
              <a:r>
                <a:rPr lang="zh-CN" altLang="en-US" sz="112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卡</a:t>
              </a:r>
            </a:p>
          </p:txBody>
        </p:sp>
        <p:sp>
          <p:nvSpPr>
            <p:cNvPr id="163" name="Line 163"/>
            <p:cNvSpPr/>
            <p:nvPr/>
          </p:nvSpPr>
          <p:spPr>
            <a:xfrm>
              <a:off x="9172575" y="4533900"/>
              <a:ext cx="2276475" cy="9525"/>
            </a:xfrm>
            <a:custGeom>
              <a:avLst/>
              <a:gdLst/>
              <a:ahLst/>
              <a:cxnLst/>
              <a:rect l="l" t="t" r="r" b="b"/>
              <a:pathLst>
                <a:path w="2276475" h="9525">
                  <a:moveTo>
                    <a:pt x="0" y="0"/>
                  </a:moveTo>
                  <a:lnTo>
                    <a:pt x="2276475" y="0"/>
                  </a:lnTo>
                </a:path>
              </a:pathLst>
            </a:custGeom>
            <a:noFill/>
            <a:ln w="9525">
              <a:solidFill>
                <a:srgbClr val="B7EB8F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9157335" y="4671060"/>
              <a:ext cx="76944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52C41A"/>
                  </a:solidFill>
                  <a:latin typeface="Arial"/>
                  <a:ea typeface="Microsoft YaHei"/>
                  <a:cs typeface="Arial"/>
                </a:rPr>
                <a:t>无精度问题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9159240" y="4953952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正常用例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9159240" y="5163502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对照基准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573881" y="5475845"/>
            <a:ext cx="11049000" cy="590550"/>
            <a:chOff x="571500" y="5638800"/>
            <a:chExt cx="11049000" cy="590550"/>
          </a:xfrm>
        </p:grpSpPr>
        <p:sp>
          <p:nvSpPr>
            <p:cNvPr id="168" name="Rectangle 168"/>
            <p:cNvSpPr/>
            <p:nvPr/>
          </p:nvSpPr>
          <p:spPr>
            <a:xfrm>
              <a:off x="571500" y="5638800"/>
              <a:ext cx="11049000" cy="590550"/>
            </a:xfrm>
            <a:prstGeom prst="roundRect">
              <a:avLst>
                <a:gd name="adj" fmla="val 9677"/>
              </a:avLst>
            </a:prstGeom>
            <a:solidFill>
              <a:srgbClr val="FFF5F5"/>
            </a:solidFill>
            <a:ln w="14288">
              <a:solidFill>
                <a:srgbClr val="C7000B"/>
              </a:solidFill>
            </a:ln>
          </p:spPr>
        </p:sp>
        <p:grpSp>
          <p:nvGrpSpPr>
            <p:cNvPr id="172" name="Group 172"/>
            <p:cNvGrpSpPr/>
            <p:nvPr/>
          </p:nvGrpSpPr>
          <p:grpSpPr>
            <a:xfrm>
              <a:off x="781759" y="5818728"/>
              <a:ext cx="208123" cy="178805"/>
              <a:chOff x="781759" y="5818728"/>
              <a:chExt cx="208123" cy="178805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885825" y="588406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70" name="Freeform 170"/>
              <p:cNvSpPr/>
              <p:nvPr/>
            </p:nvSpPr>
            <p:spPr>
              <a:xfrm>
                <a:off x="781759" y="581872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171" name="Freeform 171"/>
              <p:cNvSpPr/>
              <p:nvPr/>
            </p:nvSpPr>
            <p:spPr>
              <a:xfrm>
                <a:off x="885825" y="59562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173" name="TextBox 173"/>
            <p:cNvSpPr txBox="1"/>
            <p:nvPr/>
          </p:nvSpPr>
          <p:spPr>
            <a:xfrm>
              <a:off x="1107758" y="5844064"/>
              <a:ext cx="7243971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7/8 </a:t>
              </a:r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局点现网精度问题，覆盖 </a:t>
              </a:r>
              <a:r>
                <a:rPr lang="en-US" altLang="zh-CN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GLM5/5.1</a:t>
              </a:r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en-US" altLang="zh-CN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DSv4 </a:t>
              </a:r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多模型，</a:t>
              </a:r>
              <a:r>
                <a:rPr lang="en-US" altLang="zh-CN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A2/A3/</a:t>
              </a:r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混部多形态</a:t>
              </a:r>
              <a:r>
                <a:rPr lang="en-US" altLang="zh-CN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——</a:t>
              </a:r>
              <a:r>
                <a:rPr lang="zh-CN" altLang="en-US" sz="128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样本充足，证据客观</a:t>
              </a: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C0EB7595-075A-75A7-015D-EC87EC861E0F}"/>
              </a:ext>
            </a:extLst>
          </p:cNvPr>
          <p:cNvSpPr/>
          <p:nvPr/>
        </p:nvSpPr>
        <p:spPr>
          <a:xfrm>
            <a:off x="7453420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部门短板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0F7FDF5-354C-E185-4734-7F5F86DB58FE}"/>
              </a:ext>
            </a:extLst>
          </p:cNvPr>
          <p:cNvSpPr/>
          <p:nvPr/>
        </p:nvSpPr>
        <p:spPr>
          <a:xfrm>
            <a:off x="8594156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选定主题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701B5E60-8899-35E3-7626-64C6821DB74E}"/>
              </a:ext>
            </a:extLst>
          </p:cNvPr>
          <p:cNvSpPr/>
          <p:nvPr/>
        </p:nvSpPr>
        <p:spPr>
          <a:xfrm>
            <a:off x="9734892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把握现状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BA936D58-5DFB-7170-17E9-E08CAC58A827}"/>
              </a:ext>
            </a:extLst>
          </p:cNvPr>
          <p:cNvSpPr/>
          <p:nvPr/>
        </p:nvSpPr>
        <p:spPr>
          <a:xfrm>
            <a:off x="10875628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73881" y="379401"/>
            <a:ext cx="9081460" cy="484748"/>
            <a:chOff x="571500" y="379401"/>
            <a:chExt cx="9081460" cy="484748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3810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0" y="379401"/>
              <a:ext cx="8890960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2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类现象占 </a:t>
              </a:r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70%——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锁定 </a:t>
              </a:r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PD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分离</a:t>
              </a:r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+MTP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关键症结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4382" y="1401129"/>
            <a:ext cx="4859149" cy="161583"/>
            <a:chOff x="762000" y="1401128"/>
            <a:chExt cx="4859149" cy="161583"/>
          </a:xfrm>
        </p:grpSpPr>
        <p:sp>
          <p:nvSpPr>
            <p:cNvPr id="8" name="Rectangle 8"/>
            <p:cNvSpPr/>
            <p:nvPr/>
          </p:nvSpPr>
          <p:spPr>
            <a:xfrm>
              <a:off x="762000" y="1409700"/>
              <a:ext cx="171450" cy="1143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77265" y="1401128"/>
              <a:ext cx="13898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关键少数（</a:t>
              </a:r>
              <a:r>
                <a:rPr lang="en-US" altLang="zh-CN" sz="1050" b="1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Vital Few</a:t>
              </a:r>
              <a:r>
                <a:rPr lang="zh-CN" altLang="en-US" sz="1050" b="1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476500" y="1409700"/>
              <a:ext cx="171450" cy="1143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91765" y="1401128"/>
              <a:ext cx="15853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次要多数（</a:t>
              </a:r>
              <a:r>
                <a:rPr lang="en-US" altLang="zh-CN" sz="1050" b="1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Trivial Many</a:t>
              </a:r>
              <a:r>
                <a:rPr lang="zh-CN" altLang="en-US" sz="1050" b="1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667250" y="146685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791075" y="1428750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C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082540" y="1401128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累计占比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81672" y="1598295"/>
            <a:ext cx="11014369" cy="4019390"/>
            <a:chOff x="579290" y="1598295"/>
            <a:chExt cx="11014369" cy="4019390"/>
          </a:xfrm>
        </p:grpSpPr>
        <p:sp>
          <p:nvSpPr>
            <p:cNvPr id="17" name="Line 17"/>
            <p:cNvSpPr/>
            <p:nvPr/>
          </p:nvSpPr>
          <p:spPr>
            <a:xfrm>
              <a:off x="1238250" y="5143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9050">
              <a:solidFill>
                <a:srgbClr val="8C8C8C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38250" y="18097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19050">
              <a:solidFill>
                <a:srgbClr val="8C8C8C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0953750" y="18097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19050">
              <a:solidFill>
                <a:srgbClr val="8C8C8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65800" y="5076349"/>
              <a:ext cx="70532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5800" y="4409599"/>
              <a:ext cx="70532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5800" y="3742849"/>
              <a:ext cx="70532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5269" y="3076099"/>
              <a:ext cx="14106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5269" y="2409349"/>
              <a:ext cx="14106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16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5269" y="1742599"/>
              <a:ext cx="14106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 rot="16200000">
              <a:off x="121473" y="3443458"/>
              <a:ext cx="107721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050" b="1" dirty="0">
                  <a:solidFill>
                    <a:srgbClr val="595959"/>
                  </a:solidFill>
                  <a:latin typeface="Arial"/>
                  <a:ea typeface="Microsoft YaHei"/>
                  <a:cs typeface="Arial"/>
                </a:rPr>
                <a:t>现象记录数（条）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55668" y="5076349"/>
              <a:ext cx="182742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55668" y="4409599"/>
              <a:ext cx="25327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20%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55668" y="3742849"/>
              <a:ext cx="25327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40%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55668" y="3076099"/>
              <a:ext cx="25327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60%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55668" y="2409349"/>
              <a:ext cx="25327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80%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55668" y="1742599"/>
              <a:ext cx="323807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100%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 rot="5400000">
              <a:off x="11243563" y="3443458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累计占比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238250" y="4476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8E8E8"/>
              </a:solidFill>
              <a:prstDash val="dash"/>
            </a:ln>
          </p:spPr>
        </p:sp>
        <p:sp>
          <p:nvSpPr>
            <p:cNvPr id="35" name="Line 35"/>
            <p:cNvSpPr/>
            <p:nvPr/>
          </p:nvSpPr>
          <p:spPr>
            <a:xfrm>
              <a:off x="1238250" y="3810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8E8E8"/>
              </a:solidFill>
              <a:prstDash val="dash"/>
            </a:ln>
          </p:spPr>
        </p:sp>
        <p:sp>
          <p:nvSpPr>
            <p:cNvPr id="36" name="Line 36"/>
            <p:cNvSpPr/>
            <p:nvPr/>
          </p:nvSpPr>
          <p:spPr>
            <a:xfrm>
              <a:off x="1238250" y="31432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8E8E8"/>
              </a:solidFill>
              <a:prstDash val="dash"/>
            </a:ln>
          </p:spPr>
        </p:sp>
        <p:sp>
          <p:nvSpPr>
            <p:cNvPr id="37" name="Line 37"/>
            <p:cNvSpPr/>
            <p:nvPr/>
          </p:nvSpPr>
          <p:spPr>
            <a:xfrm>
              <a:off x="1238250" y="2476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8E8E8"/>
              </a:solidFill>
              <a:prstDash val="dash"/>
            </a:ln>
          </p:spPr>
        </p:sp>
        <p:sp>
          <p:nvSpPr>
            <p:cNvPr id="38" name="Line 38"/>
            <p:cNvSpPr/>
            <p:nvPr/>
          </p:nvSpPr>
          <p:spPr>
            <a:xfrm>
              <a:off x="1238250" y="2476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4288">
              <a:solidFill>
                <a:srgbClr val="1565C0">
                  <a:alpha val="50000"/>
                </a:srgbClr>
              </a:solidFill>
              <a:custDash>
                <a:ds d="400000" sp="266666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91621" y="2322195"/>
              <a:ext cx="37830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80% </a:t>
              </a:r>
              <a:r>
                <a:rPr lang="zh-CN" altLang="en-US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线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714500" y="3810000"/>
              <a:ext cx="1047750" cy="13335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195895" y="3604260"/>
              <a:ext cx="8496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56861" y="5276374"/>
              <a:ext cx="763029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98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PD</a:t>
              </a:r>
              <a:r>
                <a:rPr lang="zh-CN" altLang="en-US" sz="98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分离</a:t>
              </a:r>
              <a:r>
                <a:rPr lang="en-US" altLang="zh-CN" sz="98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+MTP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11738" y="5466874"/>
              <a:ext cx="25327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35%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048000" y="4305300"/>
              <a:ext cx="1047750" cy="8382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529395" y="4099560"/>
              <a:ext cx="8496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59289" y="5276374"/>
              <a:ext cx="625171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98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长序列乱码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45238" y="5466874"/>
              <a:ext cx="25327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22%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381500" y="4648200"/>
              <a:ext cx="1047750" cy="4953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862895" y="4442460"/>
              <a:ext cx="8496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30272" y="5276374"/>
              <a:ext cx="750205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98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重计算后乱码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78738" y="5466874"/>
              <a:ext cx="25327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13%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476875" y="18097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14288">
              <a:solidFill>
                <a:srgbClr val="8C8C8C">
                  <a:alpha val="60000"/>
                </a:srgbClr>
              </a:solidFill>
              <a:custDash>
                <a:ds d="400000" sp="266666"/>
              </a:custDash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697073" y="1903095"/>
              <a:ext cx="72455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altLang="en-US" sz="9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关键少数 </a:t>
              </a:r>
              <a:r>
                <a:rPr lang="en-US" altLang="zh-CN" sz="9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70%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32120" y="1903095"/>
              <a:ext cx="72455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900" b="1" dirty="0">
                  <a:solidFill>
                    <a:srgbClr val="8C8C8C"/>
                  </a:solidFill>
                  <a:latin typeface="Arial"/>
                  <a:ea typeface="Microsoft YaHei"/>
                  <a:cs typeface="Arial"/>
                </a:rPr>
                <a:t>次要多数 </a:t>
              </a:r>
              <a:r>
                <a:rPr lang="en-US" altLang="zh-CN" sz="900" b="1" dirty="0">
                  <a:solidFill>
                    <a:srgbClr val="8C8C8C"/>
                  </a:solidFill>
                  <a:latin typeface="Arial"/>
                  <a:ea typeface="Microsoft YaHei"/>
                  <a:cs typeface="Arial"/>
                </a:rPr>
                <a:t>30%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15000" y="4648200"/>
              <a:ext cx="1047750" cy="4953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96395" y="4442460"/>
              <a:ext cx="8496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8C8C8C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88806" y="5276374"/>
              <a:ext cx="500137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98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中英混杂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12238" y="5466874"/>
              <a:ext cx="253274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13%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48500" y="4810125"/>
              <a:ext cx="1047750" cy="33337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29895" y="4604385"/>
              <a:ext cx="8496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8C8C8C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51774" y="5276374"/>
              <a:ext cx="641201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98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DSML </a:t>
              </a:r>
              <a:r>
                <a:rPr lang="zh-CN" altLang="en-US" sz="98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泄漏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81003" y="5466874"/>
              <a:ext cx="182742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9%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382000" y="4810125"/>
              <a:ext cx="1047750" cy="33337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863395" y="4604385"/>
              <a:ext cx="8496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8C8C8C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80840" y="5276374"/>
              <a:ext cx="250068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98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其他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814503" y="5466874"/>
              <a:ext cx="182742" cy="150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95959"/>
                  </a:solidFill>
                  <a:latin typeface="Arial"/>
                  <a:ea typeface="Arial"/>
                  <a:cs typeface="Arial"/>
                </a:rPr>
                <a:t>9%</a:t>
              </a:r>
            </a:p>
          </p:txBody>
        </p:sp>
        <p:sp>
          <p:nvSpPr>
            <p:cNvPr id="67" name="Polyline 67"/>
            <p:cNvSpPr/>
            <p:nvPr/>
          </p:nvSpPr>
          <p:spPr>
            <a:xfrm>
              <a:off x="2238375" y="1809750"/>
              <a:ext cx="6667500" cy="2166938"/>
            </a:xfrm>
            <a:custGeom>
              <a:avLst/>
              <a:gdLst/>
              <a:ahLst/>
              <a:cxnLst/>
              <a:rect l="l" t="t" r="r" b="b"/>
              <a:pathLst>
                <a:path w="6667500" h="2166938">
                  <a:moveTo>
                    <a:pt x="0" y="2166938"/>
                  </a:moveTo>
                  <a:lnTo>
                    <a:pt x="1333500" y="1433512"/>
                  </a:lnTo>
                  <a:lnTo>
                    <a:pt x="2667000" y="1000125"/>
                  </a:lnTo>
                  <a:lnTo>
                    <a:pt x="4000500" y="566738"/>
                  </a:lnTo>
                  <a:lnTo>
                    <a:pt x="5334000" y="300038"/>
                  </a:lnTo>
                  <a:lnTo>
                    <a:pt x="6667500" y="0"/>
                  </a:lnTo>
                </a:path>
              </a:pathLst>
            </a:custGeom>
            <a:noFill/>
            <a:ln w="28575" cap="rnd">
              <a:solidFill>
                <a:srgbClr val="1565C0"/>
              </a:solidFill>
              <a:round/>
            </a:ln>
          </p:spPr>
        </p:sp>
        <p:sp>
          <p:nvSpPr>
            <p:cNvPr id="68" name="Ellipse 68"/>
            <p:cNvSpPr/>
            <p:nvPr/>
          </p:nvSpPr>
          <p:spPr>
            <a:xfrm>
              <a:off x="2190750" y="3929062"/>
              <a:ext cx="95250" cy="952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1565C0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3524250" y="3195638"/>
              <a:ext cx="95250" cy="952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1565C0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4857750" y="2762250"/>
              <a:ext cx="95250" cy="952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1565C0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6191250" y="2328862"/>
              <a:ext cx="95250" cy="952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1565C0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524750" y="2062162"/>
              <a:ext cx="95250" cy="952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1565C0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858250" y="1762125"/>
              <a:ext cx="95250" cy="952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1565C0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2122958" y="3731895"/>
              <a:ext cx="23083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35%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456458" y="2998470"/>
              <a:ext cx="23083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57%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789958" y="2569845"/>
              <a:ext cx="23083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70%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123458" y="2131695"/>
              <a:ext cx="23083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83%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56958" y="1864995"/>
              <a:ext cx="23083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91%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758398" y="1598295"/>
              <a:ext cx="294953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565C0"/>
                  </a:solidFill>
                  <a:latin typeface="Arial"/>
                  <a:ea typeface="Arial"/>
                  <a:cs typeface="Arial"/>
                </a:rPr>
                <a:t>100%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764381" y="5792144"/>
            <a:ext cx="10668000" cy="457200"/>
            <a:chOff x="762000" y="5810250"/>
            <a:chExt cx="10668000" cy="457200"/>
          </a:xfrm>
        </p:grpSpPr>
        <p:sp>
          <p:nvSpPr>
            <p:cNvPr id="81" name="Rectangle 81"/>
            <p:cNvSpPr/>
            <p:nvPr/>
          </p:nvSpPr>
          <p:spPr>
            <a:xfrm>
              <a:off x="762000" y="5810250"/>
              <a:ext cx="10668000" cy="457200"/>
            </a:xfrm>
            <a:prstGeom prst="roundRect">
              <a:avLst>
                <a:gd name="adj" fmla="val 16667"/>
              </a:avLst>
            </a:prstGeom>
            <a:solidFill>
              <a:srgbClr val="FFF5F5"/>
            </a:solidFill>
            <a:ln w="14288">
              <a:solidFill>
                <a:srgbClr val="C7000B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973730" y="5949589"/>
              <a:ext cx="182275" cy="182291"/>
              <a:chOff x="973730" y="5949589"/>
              <a:chExt cx="182275" cy="182291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1057275" y="60293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1019175" y="59912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0"/>
                    </a:move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73730" y="5949589"/>
                <a:ext cx="182275" cy="182291"/>
              </a:xfrm>
              <a:custGeom>
                <a:avLst/>
                <a:gdLst/>
                <a:ahLst/>
                <a:cxnLst/>
                <a:rect l="l" t="t" r="r" b="b"/>
                <a:pathLst>
                  <a:path w="182275" h="182291">
                    <a:moveTo>
                      <a:pt x="102595" y="4060"/>
                    </a:moveTo>
                    <a:cubicBezTo>
                      <a:pt x="66403" y="0"/>
                      <a:pt x="31596" y="19251"/>
                      <a:pt x="15798" y="52065"/>
                    </a:cubicBezTo>
                    <a:cubicBezTo>
                      <a:pt x="0" y="84879"/>
                      <a:pt x="6660" y="124094"/>
                      <a:pt x="32406" y="149852"/>
                    </a:cubicBezTo>
                    <a:cubicBezTo>
                      <a:pt x="58152" y="175611"/>
                      <a:pt x="97362" y="182291"/>
                      <a:pt x="130185" y="166509"/>
                    </a:cubicBezTo>
                    <a:cubicBezTo>
                      <a:pt x="163007" y="150728"/>
                      <a:pt x="182275" y="115931"/>
                      <a:pt x="178233" y="79736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1095375" y="59531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0" y="57150"/>
                    </a:ln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066800" y="601027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28575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261110" y="5966460"/>
              <a:ext cx="76944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关键发现：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194560" y="5966460"/>
              <a:ext cx="701884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前 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3 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类（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PD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分离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+MTP / 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长序列 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/ 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重计算后乱码）占 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70%——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锁定关键症结方向为 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PD 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分离 </a:t>
              </a:r>
              <a:r>
                <a:rPr lang="en-US" altLang="zh-CN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+ MTP </a:t>
              </a:r>
              <a:r>
                <a:rPr lang="zh-CN" altLang="en-US" sz="12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协同</a:t>
              </a:r>
            </a:p>
          </p:txBody>
        </p:sp>
      </p:grpSp>
      <p:sp>
        <p:nvSpPr>
          <p:cNvPr id="94" name="矩形 93">
            <a:extLst>
              <a:ext uri="{FF2B5EF4-FFF2-40B4-BE49-F238E27FC236}">
                <a16:creationId xmlns:a16="http://schemas.microsoft.com/office/drawing/2014/main" id="{7D30E48A-0F8A-8B95-A551-1494263F05A0}"/>
              </a:ext>
            </a:extLst>
          </p:cNvPr>
          <p:cNvSpPr/>
          <p:nvPr/>
        </p:nvSpPr>
        <p:spPr>
          <a:xfrm>
            <a:off x="7453420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部门短板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9923F19-00D0-4BC1-F189-2B87D1D370C4}"/>
              </a:ext>
            </a:extLst>
          </p:cNvPr>
          <p:cNvSpPr/>
          <p:nvPr/>
        </p:nvSpPr>
        <p:spPr>
          <a:xfrm>
            <a:off x="8594156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选定主题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BD1E3DE-2223-24E5-7C5E-31162E38950D}"/>
              </a:ext>
            </a:extLst>
          </p:cNvPr>
          <p:cNvSpPr/>
          <p:nvPr/>
        </p:nvSpPr>
        <p:spPr>
          <a:xfrm>
            <a:off x="9734892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把握现状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38DFF04D-3678-63DB-6B84-7C1469D159C0}"/>
              </a:ext>
            </a:extLst>
          </p:cNvPr>
          <p:cNvSpPr/>
          <p:nvPr/>
        </p:nvSpPr>
        <p:spPr>
          <a:xfrm>
            <a:off x="10875628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73881" y="372502"/>
            <a:ext cx="7758347" cy="484748"/>
            <a:chOff x="571500" y="372502"/>
            <a:chExt cx="7758347" cy="484748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3810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21995" y="372502"/>
              <a:ext cx="7607852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2 </a:t>
              </a:r>
              <a:r>
                <a:rPr lang="zh-CN" altLang="en-US" sz="31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个量化目标分别度量定界效率与回归覆盖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4881" y="1714500"/>
            <a:ext cx="10287000" cy="3429000"/>
            <a:chOff x="952500" y="1714500"/>
            <a:chExt cx="10287000" cy="3429000"/>
          </a:xfrm>
        </p:grpSpPr>
        <p:grpSp>
          <p:nvGrpSpPr>
            <p:cNvPr id="26" name="Group 26"/>
            <p:cNvGrpSpPr/>
            <p:nvPr/>
          </p:nvGrpSpPr>
          <p:grpSpPr>
            <a:xfrm>
              <a:off x="952500" y="1714500"/>
              <a:ext cx="4953000" cy="3429000"/>
              <a:chOff x="952500" y="1714500"/>
              <a:chExt cx="4953000" cy="3429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52500" y="1714500"/>
                <a:ext cx="4953000" cy="3429000"/>
              </a:xfrm>
              <a:prstGeom prst="roundRect">
                <a:avLst>
                  <a:gd name="adj" fmla="val 2778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952500" y="1714500"/>
                <a:ext cx="49530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952500" y="2228850"/>
                <a:ext cx="4953000" cy="95250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64908" y="1957864"/>
                <a:ext cx="998671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280" b="1" dirty="0">
                    <a:solidFill>
                      <a:srgbClr val="FFFFFF">
                        <a:alphaMod val="85000"/>
                      </a:srgbClr>
                    </a:solidFill>
                    <a:latin typeface="Arial"/>
                    <a:ea typeface="Microsoft YaHei"/>
                    <a:cs typeface="Arial"/>
                  </a:rPr>
                  <a:t>Y1 · </a:t>
                </a:r>
                <a:r>
                  <a:rPr lang="zh-CN" altLang="en-US" sz="1280" b="1" dirty="0">
                    <a:solidFill>
                      <a:srgbClr val="FFFFFF">
                        <a:alphaMod val="85000"/>
                      </a:srgbClr>
                    </a:solidFill>
                    <a:latin typeface="Arial"/>
                    <a:ea typeface="Microsoft YaHei"/>
                    <a:cs typeface="Arial"/>
                  </a:rPr>
                  <a:t>定位效率</a:t>
                </a:r>
              </a:p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5448300" y="1905000"/>
                <a:ext cx="228600" cy="228600"/>
                <a:chOff x="5448300" y="1905000"/>
                <a:chExt cx="228600" cy="2286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5448300" y="190500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0" y="88900"/>
                      </a:moveTo>
                      <a:cubicBezTo>
                        <a:pt x="0" y="137998"/>
                        <a:pt x="39802" y="177800"/>
                        <a:pt x="88900" y="177800"/>
                      </a:cubicBezTo>
                      <a:cubicBezTo>
                        <a:pt x="137998" y="177800"/>
                        <a:pt x="177800" y="137998"/>
                        <a:pt x="177800" y="88900"/>
                      </a:cubicBezTo>
                      <a:cubicBezTo>
                        <a:pt x="177800" y="39802"/>
                        <a:pt x="137998" y="0"/>
                        <a:pt x="88900" y="0"/>
                      </a:cubicBezTo>
                      <a:cubicBezTo>
                        <a:pt x="39802" y="0"/>
                        <a:pt x="0" y="39802"/>
                        <a:pt x="0" y="889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5600700" y="20574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762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62050" y="2695575"/>
                <a:ext cx="180658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500" b="1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精度问题 </a:t>
                </a:r>
                <a:r>
                  <a:rPr lang="en-US" altLang="zh-CN" sz="1500" b="1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48H </a:t>
                </a:r>
                <a:r>
                  <a:rPr lang="zh-CN" altLang="en-US" sz="1500" b="1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定位率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1181100" y="3086100"/>
                <a:ext cx="129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9525">
                    <a:moveTo>
                      <a:pt x="0" y="0"/>
                    </a:moveTo>
                    <a:lnTo>
                      <a:pt x="1295400" y="0"/>
                    </a:lnTo>
                  </a:path>
                </a:pathLst>
              </a:custGeom>
              <a:noFill/>
              <a:ln w="28575">
                <a:solidFill>
                  <a:srgbClr val="C7000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0875" y="3397568"/>
                <a:ext cx="346249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350" b="1" dirty="0">
                    <a:solidFill>
                      <a:srgbClr val="8C8C8C"/>
                    </a:solidFill>
                    <a:latin typeface="Arial"/>
                    <a:ea typeface="Microsoft YaHei"/>
                    <a:cs typeface="Arial"/>
                  </a:rPr>
                  <a:t>现状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255875" y="3397568"/>
                <a:ext cx="346249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350" b="1" dirty="0">
                    <a:solidFill>
                      <a:srgbClr val="8C8C8C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27870" y="3562350"/>
                <a:ext cx="99225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000" b="1" dirty="0">
                    <a:solidFill>
                      <a:srgbClr val="8C8C8C"/>
                    </a:solidFill>
                    <a:latin typeface="Arial"/>
                    <a:ea typeface="Arial"/>
                    <a:cs typeface="Arial"/>
                  </a:rPr>
                  <a:t>~30%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2286000" y="37338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>
                <a:solidFill>
                  <a:srgbClr val="C7000B"/>
                </a:solidFill>
              </a:ln>
            </p:spPr>
          </p:sp>
          <p:sp>
            <p:nvSpPr>
              <p:cNvPr id="21" name="Polygon 21"/>
              <p:cNvSpPr/>
              <p:nvPr/>
            </p:nvSpPr>
            <p:spPr>
              <a:xfrm>
                <a:off x="2577248" y="3657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14300" y="76200"/>
                    </a:moveTo>
                    <a:lnTo>
                      <a:pt x="0" y="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658757" y="3448050"/>
                <a:ext cx="1540485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000" b="1" dirty="0">
                    <a:solidFill>
                      <a:srgbClr val="C7000B"/>
                    </a:solidFill>
                    <a:latin typeface="Arial"/>
                    <a:ea typeface="Arial"/>
                    <a:cs typeface="Arial"/>
                  </a:rPr>
                  <a:t>80%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1181100" y="4476750"/>
                <a:ext cx="4495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95800" h="9525">
                    <a:moveTo>
                      <a:pt x="0" y="0"/>
                    </a:moveTo>
                    <a:lnTo>
                      <a:pt x="4495800" y="0"/>
                    </a:lnTo>
                  </a:path>
                </a:pathLst>
              </a:custGeom>
              <a:noFill/>
              <a:ln w="9525">
                <a:solidFill>
                  <a:srgbClr val="F0F0F0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165860" y="4675280"/>
                <a:ext cx="2176878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依据：客户响应要求 </a:t>
                </a:r>
                <a:r>
                  <a:rPr lang="en-US" altLang="zh-CN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+ </a:t>
                </a:r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内部考核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286500" y="1714500"/>
              <a:ext cx="4953000" cy="3429000"/>
              <a:chOff x="6286500" y="1714500"/>
              <a:chExt cx="4953000" cy="3429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86500" y="1714500"/>
                <a:ext cx="4953000" cy="3429000"/>
              </a:xfrm>
              <a:prstGeom prst="roundRect">
                <a:avLst>
                  <a:gd name="adj" fmla="val 2778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286500" y="1714500"/>
                <a:ext cx="49530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286500" y="2228850"/>
                <a:ext cx="4953000" cy="95250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498908" y="1957864"/>
                <a:ext cx="998671" cy="196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280" b="1" dirty="0">
                    <a:solidFill>
                      <a:srgbClr val="FFFFFF">
                        <a:alphaMod val="85000"/>
                      </a:srgbClr>
                    </a:solidFill>
                    <a:latin typeface="Arial"/>
                    <a:ea typeface="Microsoft YaHei"/>
                    <a:cs typeface="Arial"/>
                  </a:rPr>
                  <a:t>Y2 · </a:t>
                </a:r>
                <a:r>
                  <a:rPr lang="zh-CN" altLang="en-US" sz="1280" b="1" dirty="0">
                    <a:solidFill>
                      <a:srgbClr val="FFFFFF">
                        <a:alphaMod val="85000"/>
                      </a:srgbClr>
                    </a:solidFill>
                    <a:latin typeface="Arial"/>
                    <a:ea typeface="Microsoft YaHei"/>
                    <a:cs typeface="Arial"/>
                  </a:rPr>
                  <a:t>回归看护</a:t>
                </a:r>
              </a:p>
            </p:txBody>
          </p:sp>
          <p:grpSp>
            <p:nvGrpSpPr>
              <p:cNvPr id="33" name="Group 33"/>
              <p:cNvGrpSpPr/>
              <p:nvPr/>
            </p:nvGrpSpPr>
            <p:grpSpPr>
              <a:xfrm>
                <a:off x="10782300" y="1955800"/>
                <a:ext cx="228600" cy="127000"/>
                <a:chOff x="10782300" y="1955800"/>
                <a:chExt cx="228600" cy="12700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0782300" y="1955800"/>
                  <a:ext cx="228599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27000">
                      <a:moveTo>
                        <a:pt x="0" y="127000"/>
                      </a:moveTo>
                      <a:lnTo>
                        <a:pt x="76200" y="50800"/>
                      </a:lnTo>
                      <a:lnTo>
                        <a:pt x="127000" y="101600"/>
                      </a:lnTo>
                      <a:lnTo>
                        <a:pt x="228599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922000" y="1955800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0"/>
                      </a:moveTo>
                      <a:lnTo>
                        <a:pt x="88900" y="0"/>
                      </a:lnTo>
                      <a:lnTo>
                        <a:pt x="88900" y="889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6496050" y="2695575"/>
                <a:ext cx="211596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500" b="1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业务场景回归用例覆盖率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6515100" y="3086100"/>
                <a:ext cx="129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9525">
                    <a:moveTo>
                      <a:pt x="0" y="0"/>
                    </a:moveTo>
                    <a:lnTo>
                      <a:pt x="1295400" y="0"/>
                    </a:lnTo>
                  </a:path>
                </a:pathLst>
              </a:custGeom>
              <a:noFill/>
              <a:ln w="28575">
                <a:solidFill>
                  <a:srgbClr val="C7000B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684875" y="3397568"/>
                <a:ext cx="346249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350" b="1" dirty="0">
                    <a:solidFill>
                      <a:srgbClr val="8C8C8C"/>
                    </a:solidFill>
                    <a:latin typeface="Arial"/>
                    <a:ea typeface="Microsoft YaHei"/>
                    <a:cs typeface="Arial"/>
                  </a:rPr>
                  <a:t>现状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589875" y="3397568"/>
                <a:ext cx="346249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350" b="1" dirty="0">
                    <a:solidFill>
                      <a:srgbClr val="8C8C8C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361870" y="3562350"/>
                <a:ext cx="99225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000" b="1" dirty="0">
                    <a:solidFill>
                      <a:srgbClr val="8C8C8C"/>
                    </a:solidFill>
                    <a:latin typeface="Arial"/>
                    <a:ea typeface="Arial"/>
                    <a:cs typeface="Arial"/>
                  </a:rPr>
                  <a:t>~40%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7620000" y="37338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>
                <a:solidFill>
                  <a:srgbClr val="C7000B"/>
                </a:solidFill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7905111" y="3657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14300" y="76200"/>
                    </a:moveTo>
                    <a:lnTo>
                      <a:pt x="0" y="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992757" y="3448050"/>
                <a:ext cx="1540485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000" b="1" dirty="0">
                    <a:solidFill>
                      <a:srgbClr val="C7000B"/>
                    </a:solidFill>
                    <a:latin typeface="Arial"/>
                    <a:ea typeface="Arial"/>
                    <a:cs typeface="Arial"/>
                  </a:rPr>
                  <a:t>90%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6515100" y="4476750"/>
                <a:ext cx="4495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95800" h="9525">
                    <a:moveTo>
                      <a:pt x="0" y="0"/>
                    </a:moveTo>
                    <a:lnTo>
                      <a:pt x="4495800" y="0"/>
                    </a:lnTo>
                  </a:path>
                </a:pathLst>
              </a:custGeom>
              <a:noFill/>
              <a:ln w="9525">
                <a:solidFill>
                  <a:srgbClr val="F0F0F0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499860" y="4693691"/>
                <a:ext cx="1869101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依据：客户要求 </a:t>
                </a:r>
                <a:r>
                  <a:rPr lang="en-US" altLang="zh-CN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+ </a:t>
                </a:r>
                <a:r>
                  <a:rPr lang="zh-CN" altLang="en-US" sz="1200" dirty="0">
                    <a:solidFill>
                      <a:srgbClr val="595959"/>
                    </a:solidFill>
                    <a:latin typeface="Arial"/>
                    <a:ea typeface="Microsoft YaHei"/>
                    <a:cs typeface="Arial"/>
                  </a:rPr>
                  <a:t>目前短板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73881" y="5410200"/>
            <a:ext cx="11049000" cy="876300"/>
            <a:chOff x="571500" y="5410200"/>
            <a:chExt cx="11049000" cy="876300"/>
          </a:xfrm>
        </p:grpSpPr>
        <p:sp>
          <p:nvSpPr>
            <p:cNvPr id="47" name="Rectangle 47"/>
            <p:cNvSpPr/>
            <p:nvPr/>
          </p:nvSpPr>
          <p:spPr>
            <a:xfrm>
              <a:off x="571500" y="5410200"/>
              <a:ext cx="11049000" cy="876300"/>
            </a:xfrm>
            <a:prstGeom prst="roundRect">
              <a:avLst>
                <a:gd name="adj" fmla="val 8696"/>
              </a:avLst>
            </a:prstGeom>
            <a:solidFill>
              <a:srgbClr val="FFF5F5"/>
            </a:solidFill>
            <a:ln w="14288">
              <a:solidFill>
                <a:srgbClr val="C7000B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95338" y="5595938"/>
              <a:ext cx="200026" cy="200026"/>
              <a:chOff x="795338" y="5595938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84238" y="56848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9788" y="56403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95338" y="5595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C7000B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125855" y="5588318"/>
              <a:ext cx="130805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目标 ↔ 措施闭环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6808" y="5844064"/>
              <a:ext cx="5939126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Y1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定位率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80% ←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定位前监控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+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定位中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DFX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日志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+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逐层比对（度量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"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定界效率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"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6808" y="6053614"/>
              <a:ext cx="8375947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Y2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覆盖率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90% ←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定位前冒烟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+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定位后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case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看护（度量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"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回归覆盖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"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）；定位后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skills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库作为沉淀资产支撑 </a:t>
              </a:r>
              <a:r>
                <a:rPr lang="en-US" altLang="zh-CN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Y1 </a:t>
              </a:r>
              <a:r>
                <a:rPr lang="zh-CN" altLang="en-US" sz="1280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长期效率</a:t>
              </a:r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F468F490-0344-9727-953E-F4C706B5062D}"/>
              </a:ext>
            </a:extLst>
          </p:cNvPr>
          <p:cNvSpPr/>
          <p:nvPr/>
        </p:nvSpPr>
        <p:spPr>
          <a:xfrm>
            <a:off x="7453420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部门短板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EC96151-B5D6-3C26-712C-FF5BEE7541F7}"/>
              </a:ext>
            </a:extLst>
          </p:cNvPr>
          <p:cNvSpPr/>
          <p:nvPr/>
        </p:nvSpPr>
        <p:spPr>
          <a:xfrm>
            <a:off x="8594156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选定主题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E1D4D73-E6AB-A50F-E3D4-9649C4AC8748}"/>
              </a:ext>
            </a:extLst>
          </p:cNvPr>
          <p:cNvSpPr/>
          <p:nvPr/>
        </p:nvSpPr>
        <p:spPr>
          <a:xfrm>
            <a:off x="9734892" y="5010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把握现状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8C4E4F7-C991-3A11-83CA-85DAD20C2C5F}"/>
              </a:ext>
            </a:extLst>
          </p:cNvPr>
          <p:cNvSpPr/>
          <p:nvPr/>
        </p:nvSpPr>
        <p:spPr>
          <a:xfrm>
            <a:off x="10875628" y="46273"/>
            <a:ext cx="1140736" cy="27699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rgbClr val="E900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98</TotalTime>
  <Words>2593</Words>
  <Application>Microsoft Office PowerPoint</Application>
  <PresentationFormat>自定义</PresentationFormat>
  <Paragraphs>350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微软雅黑</vt:lpstr>
      <vt:lpstr>微软雅黑</vt:lpstr>
      <vt:lpstr>Arial</vt:lpstr>
      <vt:lpstr>Calibri</vt:lpstr>
      <vt:lpstr>Calibri Light</vt:lpstr>
      <vt:lpstr>封面页_图片版 </vt:lpstr>
      <vt:lpstr>目录页</vt:lpstr>
      <vt:lpstr>章节页</vt:lpstr>
      <vt:lpstr>结束页</vt:lpstr>
      <vt:lpstr>提升推理精度问题的定位效率与回归看护能力 圈名：推理护航圈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zhaochuang (D)</dc:creator>
  <cp:lastModifiedBy>longgang (A)</cp:lastModifiedBy>
  <cp:revision>203</cp:revision>
  <dcterms:created xsi:type="dcterms:W3CDTF">2020-08-28T08:44:19Z</dcterms:created>
  <dcterms:modified xsi:type="dcterms:W3CDTF">2026-09-03T00:23:48Z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